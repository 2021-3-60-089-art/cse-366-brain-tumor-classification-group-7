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_rels/slide8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_rels/notesSlide15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13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9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move the slide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Click to edit the </a:t>
            </a: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notes format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&lt;header&gt;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&lt;date/time&gt;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2E1E9EC1-7CA2-401D-A2A9-15481D1F669F}" type="slidenum"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&lt;number&gt;</a:t>
            </a:fld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16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E0202E7-D3E6-46B5-8D77-8234598FC620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19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63BE4AC-D7D8-49C8-A09C-F05842118C63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22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2F63C0B-A9CF-4C57-98D5-BEC2D08D583F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FCFDD7-6AD1-41BD-8DD8-1147C4401E26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28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3020F2D-699A-486A-BCDC-B6CCA7C01FCE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11D8DF6-BD2F-40C3-8088-141A00140FB8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34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D1D2E0E7-CD2C-491B-AF2D-91C7C501E938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37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7D5BE2E-A4FB-4192-9A41-23B0F82D97FF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40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7B927A2-1960-4CCF-AFD2-E3C6FE8F9FF4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43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0CE2C4-6197-416E-B639-6854325CCE6F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46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89BE7B2-D76C-4E23-8FDF-4C9C3FDAE430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4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49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FC9500EE-C9E4-49DA-A980-C9FBE207485C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5320" cy="3085200"/>
          </a:xfrm>
          <a:prstGeom prst="rect">
            <a:avLst/>
          </a:prstGeom>
          <a:ln w="0">
            <a:noFill/>
          </a:ln>
        </p:spPr>
      </p:sp>
      <p:sp>
        <p:nvSpPr>
          <p:cNvPr id="35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-216000">
              <a:buNone/>
            </a:pPr>
            <a:endParaRPr b="0" lang="en-US" sz="18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  <p:sp>
        <p:nvSpPr>
          <p:cNvPr id="352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C9FCD0F-CFCA-410D-9B20-3F2E6F226996}" type="slidenum">
              <a:rPr b="0" lang="en-US" sz="1200" spc="-1" strike="noStrike">
                <a:solidFill>
                  <a:srgbClr val="000000"/>
                </a:solidFill>
                <a:latin typeface="Times New Roman"/>
                <a:ea typeface="Times New Roman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8;p1"/>
          <p:cNvSpPr/>
          <p:nvPr/>
        </p:nvSpPr>
        <p:spPr>
          <a:xfrm>
            <a:off x="6076800" y="4871880"/>
            <a:ext cx="36360" cy="1080000"/>
          </a:xfrm>
          <a:custGeom>
            <a:avLst/>
            <a:gdLst>
              <a:gd name="textAreaLeft" fmla="*/ 0 w 36360"/>
              <a:gd name="textAreaRight" fmla="*/ 36720 w 36360"/>
              <a:gd name="textAreaTop" fmla="*/ 0 h 1080000"/>
              <a:gd name="textAreaBottom" fmla="*/ 1080360 h 1080000"/>
            </a:gdLst>
            <a:ahLst/>
            <a:rect l="textAreaLeft" t="textAreaTop" r="textAreaRight" b="textAreaBottom"/>
            <a:pathLst>
              <a:path w="37284" h="1081248">
                <a:moveTo>
                  <a:pt x="0" y="0"/>
                </a:moveTo>
                <a:lnTo>
                  <a:pt x="37284" y="0"/>
                </a:lnTo>
                <a:lnTo>
                  <a:pt x="37284" y="1081248"/>
                </a:lnTo>
                <a:lnTo>
                  <a:pt x="0" y="1081248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Google Shape;19;p1"/>
          <p:cNvSpPr/>
          <p:nvPr/>
        </p:nvSpPr>
        <p:spPr>
          <a:xfrm>
            <a:off x="160200" y="4498920"/>
            <a:ext cx="5555160" cy="857160"/>
          </a:xfrm>
          <a:custGeom>
            <a:avLst/>
            <a:gdLst>
              <a:gd name="textAreaLeft" fmla="*/ 0 w 5555160"/>
              <a:gd name="textAreaRight" fmla="*/ 5555520 w 5555160"/>
              <a:gd name="textAreaTop" fmla="*/ 0 h 857160"/>
              <a:gd name="textAreaBottom" fmla="*/ 857520 h 857160"/>
            </a:gdLst>
            <a:ahLst/>
            <a:rect l="textAreaLeft" t="textAreaTop" r="textAreaRight" b="textAreaBottom"/>
            <a:pathLst>
              <a:path w="5555376" h="857541">
                <a:moveTo>
                  <a:pt x="0" y="0"/>
                </a:moveTo>
                <a:lnTo>
                  <a:pt x="5480804" y="0"/>
                </a:lnTo>
                <a:cubicBezTo>
                  <a:pt x="5521989" y="0"/>
                  <a:pt x="5555376" y="33387"/>
                  <a:pt x="5555376" y="74572"/>
                </a:cubicBezTo>
                <a:lnTo>
                  <a:pt x="5555376" y="782969"/>
                </a:lnTo>
                <a:cubicBezTo>
                  <a:pt x="5555376" y="824154"/>
                  <a:pt x="5521989" y="857541"/>
                  <a:pt x="5480804" y="857541"/>
                </a:cubicBez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" name="Google Shape;20;p1"/>
          <p:cNvSpPr/>
          <p:nvPr/>
        </p:nvSpPr>
        <p:spPr>
          <a:xfrm>
            <a:off x="360720" y="457560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Tamim Rafi Ahmed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" name="Google Shape;21;p1"/>
          <p:cNvSpPr/>
          <p:nvPr/>
        </p:nvSpPr>
        <p:spPr>
          <a:xfrm>
            <a:off x="360720" y="494496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2021-3-60-089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" name="Google Shape;22;p1"/>
          <p:cNvSpPr/>
          <p:nvPr/>
        </p:nvSpPr>
        <p:spPr>
          <a:xfrm>
            <a:off x="151200" y="5543640"/>
            <a:ext cx="5555160" cy="857160"/>
          </a:xfrm>
          <a:custGeom>
            <a:avLst/>
            <a:gdLst>
              <a:gd name="textAreaLeft" fmla="*/ 0 w 5555160"/>
              <a:gd name="textAreaRight" fmla="*/ 5555520 w 5555160"/>
              <a:gd name="textAreaTop" fmla="*/ 0 h 857160"/>
              <a:gd name="textAreaBottom" fmla="*/ 857520 h 857160"/>
            </a:gdLst>
            <a:ahLst/>
            <a:rect l="textAreaLeft" t="textAreaTop" r="textAreaRight" b="textAreaBottom"/>
            <a:pathLst>
              <a:path w="5555376" h="857541">
                <a:moveTo>
                  <a:pt x="0" y="0"/>
                </a:moveTo>
                <a:lnTo>
                  <a:pt x="5480804" y="0"/>
                </a:lnTo>
                <a:cubicBezTo>
                  <a:pt x="5521989" y="0"/>
                  <a:pt x="5555376" y="33387"/>
                  <a:pt x="5555376" y="74572"/>
                </a:cubicBezTo>
                <a:lnTo>
                  <a:pt x="5555376" y="782969"/>
                </a:lnTo>
                <a:cubicBezTo>
                  <a:pt x="5555376" y="824154"/>
                  <a:pt x="5521989" y="857541"/>
                  <a:pt x="5480804" y="857541"/>
                </a:cubicBez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" name="Google Shape;23;p1"/>
          <p:cNvSpPr/>
          <p:nvPr/>
        </p:nvSpPr>
        <p:spPr>
          <a:xfrm>
            <a:off x="351720" y="562032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Md. Sakib husen 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" name="Google Shape;24;p1"/>
          <p:cNvSpPr/>
          <p:nvPr/>
        </p:nvSpPr>
        <p:spPr>
          <a:xfrm>
            <a:off x="351720" y="598968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2022-1-60-274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" name="Google Shape;25;p1"/>
          <p:cNvSpPr/>
          <p:nvPr/>
        </p:nvSpPr>
        <p:spPr>
          <a:xfrm>
            <a:off x="6332040" y="4572000"/>
            <a:ext cx="5555160" cy="857160"/>
          </a:xfrm>
          <a:custGeom>
            <a:avLst/>
            <a:gdLst>
              <a:gd name="textAreaLeft" fmla="*/ 0 w 5555160"/>
              <a:gd name="textAreaRight" fmla="*/ 5555520 w 5555160"/>
              <a:gd name="textAreaTop" fmla="*/ 0 h 857160"/>
              <a:gd name="textAreaBottom" fmla="*/ 857520 h 857160"/>
            </a:gdLst>
            <a:ahLst/>
            <a:rect l="textAreaLeft" t="textAreaTop" r="textAreaRight" b="textAreaBottom"/>
            <a:pathLst>
              <a:path w="5555376" h="857541">
                <a:moveTo>
                  <a:pt x="0" y="0"/>
                </a:moveTo>
                <a:lnTo>
                  <a:pt x="5480804" y="0"/>
                </a:lnTo>
                <a:cubicBezTo>
                  <a:pt x="5521989" y="0"/>
                  <a:pt x="5555376" y="33387"/>
                  <a:pt x="5555376" y="74572"/>
                </a:cubicBezTo>
                <a:lnTo>
                  <a:pt x="5555376" y="782969"/>
                </a:lnTo>
                <a:cubicBezTo>
                  <a:pt x="5555376" y="824154"/>
                  <a:pt x="5521989" y="857541"/>
                  <a:pt x="5480804" y="857541"/>
                </a:cubicBez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" name="Google Shape;26;p1"/>
          <p:cNvSpPr/>
          <p:nvPr/>
        </p:nvSpPr>
        <p:spPr>
          <a:xfrm>
            <a:off x="6541560" y="457560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Mahadi Haaan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" name="Google Shape;27;p1"/>
          <p:cNvSpPr/>
          <p:nvPr/>
        </p:nvSpPr>
        <p:spPr>
          <a:xfrm>
            <a:off x="6541560" y="494496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2021-3-60-270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" name="Google Shape;28;p1"/>
          <p:cNvSpPr/>
          <p:nvPr/>
        </p:nvSpPr>
        <p:spPr>
          <a:xfrm>
            <a:off x="6332040" y="5543640"/>
            <a:ext cx="5555160" cy="857160"/>
          </a:xfrm>
          <a:custGeom>
            <a:avLst/>
            <a:gdLst>
              <a:gd name="textAreaLeft" fmla="*/ 0 w 5555160"/>
              <a:gd name="textAreaRight" fmla="*/ 5555520 w 5555160"/>
              <a:gd name="textAreaTop" fmla="*/ 0 h 857160"/>
              <a:gd name="textAreaBottom" fmla="*/ 857520 h 857160"/>
            </a:gdLst>
            <a:ahLst/>
            <a:rect l="textAreaLeft" t="textAreaTop" r="textAreaRight" b="textAreaBottom"/>
            <a:pathLst>
              <a:path w="5555376" h="857541">
                <a:moveTo>
                  <a:pt x="0" y="0"/>
                </a:moveTo>
                <a:lnTo>
                  <a:pt x="5480804" y="0"/>
                </a:lnTo>
                <a:cubicBezTo>
                  <a:pt x="5521989" y="0"/>
                  <a:pt x="5555376" y="33387"/>
                  <a:pt x="5555376" y="74572"/>
                </a:cubicBezTo>
                <a:lnTo>
                  <a:pt x="5555376" y="782969"/>
                </a:lnTo>
                <a:cubicBezTo>
                  <a:pt x="5555376" y="824154"/>
                  <a:pt x="5521989" y="857541"/>
                  <a:pt x="5480804" y="857541"/>
                </a:cubicBezTo>
                <a:lnTo>
                  <a:pt x="0" y="857541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" name="Google Shape;29;p1"/>
          <p:cNvSpPr/>
          <p:nvPr/>
        </p:nvSpPr>
        <p:spPr>
          <a:xfrm>
            <a:off x="6532560" y="562032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Md Moynul Haque Tuhin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" name="Google Shape;30;p1"/>
          <p:cNvSpPr/>
          <p:nvPr/>
        </p:nvSpPr>
        <p:spPr>
          <a:xfrm>
            <a:off x="6532560" y="598968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2021-1-60-062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" name="Google Shape;31;p1"/>
          <p:cNvSpPr/>
          <p:nvPr/>
        </p:nvSpPr>
        <p:spPr>
          <a:xfrm>
            <a:off x="391320" y="22428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Topic: Brain tumor MRI image 44 classes 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" name="Google Shape;32;p1"/>
          <p:cNvSpPr/>
          <p:nvPr/>
        </p:nvSpPr>
        <p:spPr>
          <a:xfrm>
            <a:off x="228600" y="2483280"/>
            <a:ext cx="3913920" cy="259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Instructor: Dr. Raihan Ul Islam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" name="Google Shape;33;p1"/>
          <p:cNvSpPr/>
          <p:nvPr/>
        </p:nvSpPr>
        <p:spPr>
          <a:xfrm>
            <a:off x="228600" y="2748960"/>
            <a:ext cx="2999520" cy="4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cse 366: Artificial Intelligence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" name="Google Shape;33;p 1"/>
          <p:cNvSpPr/>
          <p:nvPr/>
        </p:nvSpPr>
        <p:spPr>
          <a:xfrm>
            <a:off x="200880" y="3170880"/>
            <a:ext cx="2999520" cy="720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Associate </a:t>
            </a: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professor – East </a:t>
            </a: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West university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" name="Google Shape;33;p 2"/>
          <p:cNvSpPr/>
          <p:nvPr/>
        </p:nvSpPr>
        <p:spPr>
          <a:xfrm>
            <a:off x="228600" y="3891240"/>
            <a:ext cx="299952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Gro</a:t>
            </a: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up: </a:t>
            </a: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7 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" name="Google Shape;33;p 3"/>
          <p:cNvSpPr/>
          <p:nvPr/>
        </p:nvSpPr>
        <p:spPr>
          <a:xfrm>
            <a:off x="3429000" y="3891240"/>
            <a:ext cx="2999520" cy="45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Section:</a:t>
            </a:r>
            <a:r>
              <a:rPr b="1" lang="en-US" sz="1470" spc="-1" strike="noStrike">
                <a:solidFill>
                  <a:srgbClr val="e8e8e8"/>
                </a:solidFill>
                <a:latin typeface="Liter"/>
                <a:ea typeface="Liter"/>
              </a:rPr>
              <a:t>1</a:t>
            </a:r>
            <a:endParaRPr b="0" lang="en-US" sz="147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101;p2"/>
          <p:cNvSpPr/>
          <p:nvPr/>
        </p:nvSpPr>
        <p:spPr>
          <a:xfrm>
            <a:off x="380880" y="380880"/>
            <a:ext cx="1150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Research Context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" name="Google Shape;102;p2"/>
          <p:cNvSpPr/>
          <p:nvPr/>
        </p:nvSpPr>
        <p:spPr>
          <a:xfrm>
            <a:off x="380880" y="685800"/>
            <a:ext cx="11600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e8e8e8"/>
                </a:solidFill>
                <a:latin typeface="Liter"/>
                <a:ea typeface="Liter"/>
              </a:rPr>
              <a:t>Introduction 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" name="Google Shape;103;p2"/>
          <p:cNvSpPr/>
          <p:nvPr/>
        </p:nvSpPr>
        <p:spPr>
          <a:xfrm>
            <a:off x="380880" y="1181160"/>
            <a:ext cx="913320" cy="37080"/>
          </a:xfrm>
          <a:custGeom>
            <a:avLst/>
            <a:gdLst>
              <a:gd name="textAreaLeft" fmla="*/ 0 w 913320"/>
              <a:gd name="textAreaRight" fmla="*/ 913680 w 913320"/>
              <a:gd name="textAreaTop" fmla="*/ 0 h 37080"/>
              <a:gd name="textAreaBottom" fmla="*/ 37440 h 37080"/>
            </a:gdLst>
            <a:ah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Google Shape;104;p2"/>
          <p:cNvSpPr/>
          <p:nvPr/>
        </p:nvSpPr>
        <p:spPr>
          <a:xfrm>
            <a:off x="399960" y="1371600"/>
            <a:ext cx="5580720" cy="2151720"/>
          </a:xfrm>
          <a:custGeom>
            <a:avLst/>
            <a:gdLst>
              <a:gd name="textAreaLeft" fmla="*/ 0 w 5580720"/>
              <a:gd name="textAreaRight" fmla="*/ 5581080 w 5580720"/>
              <a:gd name="textAreaTop" fmla="*/ 0 h 2151720"/>
              <a:gd name="textAreaBottom" fmla="*/ 2152080 h 2151720"/>
            </a:gdLst>
            <a:ahLst/>
            <a:rect l="textAreaLeft" t="textAreaTop" r="textAreaRight" b="textAreaBottom"/>
            <a:pathLst>
              <a:path w="5581650" h="2152650">
                <a:moveTo>
                  <a:pt x="0" y="0"/>
                </a:moveTo>
                <a:lnTo>
                  <a:pt x="5505446" y="0"/>
                </a:lnTo>
                <a:cubicBezTo>
                  <a:pt x="5547532" y="0"/>
                  <a:pt x="5581650" y="34118"/>
                  <a:pt x="5581650" y="76204"/>
                </a:cubicBezTo>
                <a:lnTo>
                  <a:pt x="5581650" y="2076446"/>
                </a:lnTo>
                <a:cubicBezTo>
                  <a:pt x="5581650" y="2118532"/>
                  <a:pt x="5547532" y="2152650"/>
                  <a:pt x="5505446" y="2152650"/>
                </a:cubicBez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" name="Google Shape;105;p2"/>
          <p:cNvSpPr/>
          <p:nvPr/>
        </p:nvSpPr>
        <p:spPr>
          <a:xfrm>
            <a:off x="399960" y="1371600"/>
            <a:ext cx="37080" cy="2151720"/>
          </a:xfrm>
          <a:custGeom>
            <a:avLst/>
            <a:gdLst>
              <a:gd name="textAreaLeft" fmla="*/ 0 w 37080"/>
              <a:gd name="textAreaRight" fmla="*/ 37440 w 37080"/>
              <a:gd name="textAreaTop" fmla="*/ 0 h 2151720"/>
              <a:gd name="textAreaBottom" fmla="*/ 2152080 h 2151720"/>
            </a:gdLst>
            <a:ahLst/>
            <a:rect l="textAreaLeft" t="textAreaTop" r="textAreaRight" b="textAreaBottom"/>
            <a:pathLst>
              <a:path w="38100" h="2152650">
                <a:moveTo>
                  <a:pt x="0" y="0"/>
                </a:moveTo>
                <a:lnTo>
                  <a:pt x="38100" y="0"/>
                </a:lnTo>
                <a:lnTo>
                  <a:pt x="38100" y="2152650"/>
                </a:lnTo>
                <a:lnTo>
                  <a:pt x="0" y="215265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Google Shape;106;p2"/>
          <p:cNvSpPr/>
          <p:nvPr/>
        </p:nvSpPr>
        <p:spPr>
          <a:xfrm>
            <a:off x="600120" y="1542960"/>
            <a:ext cx="227520" cy="227520"/>
          </a:xfrm>
          <a:custGeom>
            <a:avLst/>
            <a:gdLst>
              <a:gd name="textAreaLeft" fmla="*/ 0 w 227520"/>
              <a:gd name="textAreaRight" fmla="*/ 227880 w 227520"/>
              <a:gd name="textAreaTop" fmla="*/ 0 h 227520"/>
              <a:gd name="textAreaBottom" fmla="*/ 227880 h 227520"/>
            </a:gdLst>
            <a:ahLst/>
            <a:rect l="textAreaLeft" t="textAreaTop" r="textAreaRight" b="textAreaBottom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Google Shape;107;p2"/>
          <p:cNvSpPr/>
          <p:nvPr/>
        </p:nvSpPr>
        <p:spPr>
          <a:xfrm>
            <a:off x="971640" y="1523880"/>
            <a:ext cx="2456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e8e8"/>
                </a:solidFill>
                <a:latin typeface="Liter"/>
                <a:ea typeface="Liter"/>
              </a:rPr>
              <a:t>Clinical Challenge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4" name="Google Shape;108;p2"/>
          <p:cNvSpPr/>
          <p:nvPr/>
        </p:nvSpPr>
        <p:spPr>
          <a:xfrm>
            <a:off x="571680" y="1905120"/>
            <a:ext cx="5333040" cy="7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Brain tumor classification is critical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for medical diagnosis and treatment planning. Manual analysis by radiologists is time-consuming and susceptible to human error, creating urgent need for automated systems.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5" name="Google Shape;109;p2"/>
          <p:cNvSpPr/>
          <p:nvPr/>
        </p:nvSpPr>
        <p:spPr>
          <a:xfrm>
            <a:off x="571680" y="2762280"/>
            <a:ext cx="5256720" cy="608400"/>
          </a:xfrm>
          <a:custGeom>
            <a:avLst/>
            <a:gdLst>
              <a:gd name="textAreaLeft" fmla="*/ 0 w 5256720"/>
              <a:gd name="textAreaRight" fmla="*/ 5257080 w 5256720"/>
              <a:gd name="textAreaTop" fmla="*/ 0 h 608400"/>
              <a:gd name="textAreaBottom" fmla="*/ 608760 h 608400"/>
            </a:gdLst>
            <a:ahLst/>
            <a:rect l="textAreaLeft" t="textAreaTop" r="textAreaRight" b="textAreaBottom"/>
            <a:pathLst>
              <a:path w="5257800" h="609600">
                <a:moveTo>
                  <a:pt x="76200" y="0"/>
                </a:moveTo>
                <a:lnTo>
                  <a:pt x="5181600" y="0"/>
                </a:lnTo>
                <a:cubicBezTo>
                  <a:pt x="5223656" y="0"/>
                  <a:pt x="5257800" y="34144"/>
                  <a:pt x="5257800" y="76200"/>
                </a:cubicBezTo>
                <a:lnTo>
                  <a:pt x="5257800" y="533400"/>
                </a:lnTo>
                <a:cubicBezTo>
                  <a:pt x="5257800" y="575456"/>
                  <a:pt x="5223656" y="609600"/>
                  <a:pt x="5181600" y="609600"/>
                </a:cubicBezTo>
                <a:lnTo>
                  <a:pt x="76200" y="609600"/>
                </a:lnTo>
                <a:cubicBezTo>
                  <a:pt x="34144" y="609600"/>
                  <a:pt x="0" y="575456"/>
                  <a:pt x="0" y="5334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6" name="Google Shape;110;p2"/>
          <p:cNvSpPr/>
          <p:nvPr/>
        </p:nvSpPr>
        <p:spPr>
          <a:xfrm>
            <a:off x="685800" y="2876400"/>
            <a:ext cx="50947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Objective:</a:t>
            </a:r>
            <a:r>
              <a:rPr b="0" lang="en-US" sz="10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Develop robust deep learning system capable of differentiating between complex tumor types from MRI scans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7" name="Google Shape;111;p2"/>
          <p:cNvSpPr/>
          <p:nvPr/>
        </p:nvSpPr>
        <p:spPr>
          <a:xfrm>
            <a:off x="399960" y="3676680"/>
            <a:ext cx="5580720" cy="2018160"/>
          </a:xfrm>
          <a:custGeom>
            <a:avLst/>
            <a:gdLst>
              <a:gd name="textAreaLeft" fmla="*/ 0 w 5580720"/>
              <a:gd name="textAreaRight" fmla="*/ 5581080 w 5580720"/>
              <a:gd name="textAreaTop" fmla="*/ 0 h 2018160"/>
              <a:gd name="textAreaBottom" fmla="*/ 2018520 h 2018160"/>
            </a:gdLst>
            <a:ahLst/>
            <a:rect l="textAreaLeft" t="textAreaTop" r="textAreaRight" b="textAreaBottom"/>
            <a:pathLst>
              <a:path w="5581650" h="2019300">
                <a:moveTo>
                  <a:pt x="0" y="0"/>
                </a:moveTo>
                <a:lnTo>
                  <a:pt x="5505442" y="0"/>
                </a:lnTo>
                <a:cubicBezTo>
                  <a:pt x="5547530" y="0"/>
                  <a:pt x="5581650" y="34120"/>
                  <a:pt x="5581650" y="76208"/>
                </a:cubicBezTo>
                <a:lnTo>
                  <a:pt x="5581650" y="1943092"/>
                </a:lnTo>
                <a:cubicBezTo>
                  <a:pt x="5581650" y="1985180"/>
                  <a:pt x="5547530" y="2019300"/>
                  <a:pt x="5505442" y="2019300"/>
                </a:cubicBez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8" name="Google Shape;112;p2"/>
          <p:cNvSpPr/>
          <p:nvPr/>
        </p:nvSpPr>
        <p:spPr>
          <a:xfrm>
            <a:off x="399960" y="3676680"/>
            <a:ext cx="37080" cy="2018160"/>
          </a:xfrm>
          <a:custGeom>
            <a:avLst/>
            <a:gdLst>
              <a:gd name="textAreaLeft" fmla="*/ 0 w 37080"/>
              <a:gd name="textAreaRight" fmla="*/ 37440 w 37080"/>
              <a:gd name="textAreaTop" fmla="*/ 0 h 2018160"/>
              <a:gd name="textAreaBottom" fmla="*/ 2018520 h 2018160"/>
            </a:gdLst>
            <a:ahLst/>
            <a:rect l="textAreaLeft" t="textAreaTop" r="textAreaRight" b="textAreaBottom"/>
            <a:pathLst>
              <a:path w="38100" h="2019300">
                <a:moveTo>
                  <a:pt x="0" y="0"/>
                </a:moveTo>
                <a:lnTo>
                  <a:pt x="38100" y="0"/>
                </a:lnTo>
                <a:lnTo>
                  <a:pt x="38100" y="2019300"/>
                </a:lnTo>
                <a:lnTo>
                  <a:pt x="0" y="20193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9" name="Google Shape;113;p2"/>
          <p:cNvSpPr/>
          <p:nvPr/>
        </p:nvSpPr>
        <p:spPr>
          <a:xfrm>
            <a:off x="614520" y="3848040"/>
            <a:ext cx="199080" cy="227520"/>
          </a:xfrm>
          <a:custGeom>
            <a:avLst/>
            <a:gdLst>
              <a:gd name="textAreaLeft" fmla="*/ 0 w 199080"/>
              <a:gd name="textAreaRight" fmla="*/ 199440 w 199080"/>
              <a:gd name="textAreaTop" fmla="*/ 0 h 227520"/>
              <a:gd name="textAreaBottom" fmla="*/ 227880 h 227520"/>
            </a:gdLst>
            <a:ahLst/>
            <a:rect l="textAreaLeft" t="textAreaTop" r="textAreaRight" b="textAreaBottom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0" name="Google Shape;114;p2"/>
          <p:cNvSpPr/>
          <p:nvPr/>
        </p:nvSpPr>
        <p:spPr>
          <a:xfrm>
            <a:off x="971640" y="3828960"/>
            <a:ext cx="2456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e8e8"/>
                </a:solidFill>
                <a:latin typeface="Liter"/>
                <a:ea typeface="Liter"/>
              </a:rPr>
              <a:t>Dataset Complexity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1" name="Google Shape;115;p2"/>
          <p:cNvSpPr/>
          <p:nvPr/>
        </p:nvSpPr>
        <p:spPr>
          <a:xfrm>
            <a:off x="571680" y="4210200"/>
            <a:ext cx="53330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The </a:t>
            </a: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"brain-tumor-mri-images-44c"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dataset contains 4,479 images across 44 highly granular clinical subclasses with various MRI contrast sequences.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2" name="Google Shape;116;p2"/>
          <p:cNvSpPr/>
          <p:nvPr/>
        </p:nvSpPr>
        <p:spPr>
          <a:xfrm>
            <a:off x="571680" y="4819680"/>
            <a:ext cx="1675440" cy="722880"/>
          </a:xfrm>
          <a:custGeom>
            <a:avLst/>
            <a:gdLst>
              <a:gd name="textAreaLeft" fmla="*/ 0 w 1675440"/>
              <a:gd name="textAreaRight" fmla="*/ 1675800 w 1675440"/>
              <a:gd name="textAreaTop" fmla="*/ 0 h 722880"/>
              <a:gd name="textAreaBottom" fmla="*/ 723240 h 722880"/>
            </a:gdLst>
            <a:ahLst/>
            <a:rect l="textAreaLeft" t="textAreaTop" r="textAreaRight" b="textAreaBottom"/>
            <a:pathLst>
              <a:path w="1676400" h="723900">
                <a:moveTo>
                  <a:pt x="38099" y="0"/>
                </a:moveTo>
                <a:lnTo>
                  <a:pt x="1638301" y="0"/>
                </a:lnTo>
                <a:cubicBezTo>
                  <a:pt x="1659328" y="0"/>
                  <a:pt x="1676400" y="17072"/>
                  <a:pt x="1676400" y="38099"/>
                </a:cubicBezTo>
                <a:lnTo>
                  <a:pt x="1676400" y="685801"/>
                </a:lnTo>
                <a:cubicBezTo>
                  <a:pt x="1676400" y="706828"/>
                  <a:pt x="1659328" y="723900"/>
                  <a:pt x="16383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3" name="Google Shape;117;p2"/>
          <p:cNvSpPr/>
          <p:nvPr/>
        </p:nvSpPr>
        <p:spPr>
          <a:xfrm>
            <a:off x="628560" y="4933800"/>
            <a:ext cx="1560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44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4" name="Google Shape;118;p2"/>
          <p:cNvSpPr/>
          <p:nvPr/>
        </p:nvSpPr>
        <p:spPr>
          <a:xfrm>
            <a:off x="657360" y="5276880"/>
            <a:ext cx="15037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Subclasses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5" name="Google Shape;119;p2"/>
          <p:cNvSpPr/>
          <p:nvPr/>
        </p:nvSpPr>
        <p:spPr>
          <a:xfrm>
            <a:off x="2362320" y="4819680"/>
            <a:ext cx="1675440" cy="722880"/>
          </a:xfrm>
          <a:custGeom>
            <a:avLst/>
            <a:gdLst>
              <a:gd name="textAreaLeft" fmla="*/ 0 w 1675440"/>
              <a:gd name="textAreaRight" fmla="*/ 1675800 w 1675440"/>
              <a:gd name="textAreaTop" fmla="*/ 0 h 722880"/>
              <a:gd name="textAreaBottom" fmla="*/ 723240 h 722880"/>
            </a:gdLst>
            <a:ahLst/>
            <a:rect l="textAreaLeft" t="textAreaTop" r="textAreaRight" b="textAreaBottom"/>
            <a:pathLst>
              <a:path w="1676400" h="723900">
                <a:moveTo>
                  <a:pt x="38099" y="0"/>
                </a:moveTo>
                <a:lnTo>
                  <a:pt x="1638301" y="0"/>
                </a:lnTo>
                <a:cubicBezTo>
                  <a:pt x="1659328" y="0"/>
                  <a:pt x="1676400" y="17072"/>
                  <a:pt x="1676400" y="38099"/>
                </a:cubicBezTo>
                <a:lnTo>
                  <a:pt x="1676400" y="685801"/>
                </a:lnTo>
                <a:cubicBezTo>
                  <a:pt x="1676400" y="706828"/>
                  <a:pt x="1659328" y="723900"/>
                  <a:pt x="16383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6" name="Google Shape;120;p2"/>
          <p:cNvSpPr/>
          <p:nvPr/>
        </p:nvSpPr>
        <p:spPr>
          <a:xfrm>
            <a:off x="2419200" y="4933800"/>
            <a:ext cx="1560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7" name="Google Shape;121;p2"/>
          <p:cNvSpPr/>
          <p:nvPr/>
        </p:nvSpPr>
        <p:spPr>
          <a:xfrm>
            <a:off x="2448000" y="5276880"/>
            <a:ext cx="15037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MRI Types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8" name="Google Shape;122;p2"/>
          <p:cNvSpPr/>
          <p:nvPr/>
        </p:nvSpPr>
        <p:spPr>
          <a:xfrm>
            <a:off x="4152960" y="4819680"/>
            <a:ext cx="1675440" cy="722880"/>
          </a:xfrm>
          <a:custGeom>
            <a:avLst/>
            <a:gdLst>
              <a:gd name="textAreaLeft" fmla="*/ 0 w 1675440"/>
              <a:gd name="textAreaRight" fmla="*/ 1675800 w 1675440"/>
              <a:gd name="textAreaTop" fmla="*/ 0 h 722880"/>
              <a:gd name="textAreaBottom" fmla="*/ 723240 h 722880"/>
            </a:gdLst>
            <a:ahLst/>
            <a:rect l="textAreaLeft" t="textAreaTop" r="textAreaRight" b="textAreaBottom"/>
            <a:pathLst>
              <a:path w="1676400" h="723900">
                <a:moveTo>
                  <a:pt x="38099" y="0"/>
                </a:moveTo>
                <a:lnTo>
                  <a:pt x="1638301" y="0"/>
                </a:lnTo>
                <a:cubicBezTo>
                  <a:pt x="1659328" y="0"/>
                  <a:pt x="1676400" y="17072"/>
                  <a:pt x="1676400" y="38099"/>
                </a:cubicBezTo>
                <a:lnTo>
                  <a:pt x="1676400" y="685801"/>
                </a:lnTo>
                <a:cubicBezTo>
                  <a:pt x="1676400" y="706828"/>
                  <a:pt x="1659328" y="723900"/>
                  <a:pt x="1638301" y="723900"/>
                </a:cubicBezTo>
                <a:lnTo>
                  <a:pt x="38099" y="723900"/>
                </a:lnTo>
                <a:cubicBezTo>
                  <a:pt x="17072" y="723900"/>
                  <a:pt x="0" y="706828"/>
                  <a:pt x="0" y="685801"/>
                </a:cubicBezTo>
                <a:lnTo>
                  <a:pt x="0" y="38099"/>
                </a:lnTo>
                <a:cubicBezTo>
                  <a:pt x="0" y="17072"/>
                  <a:pt x="17072" y="0"/>
                  <a:pt x="38099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49" name="Google Shape;123;p2"/>
          <p:cNvSpPr/>
          <p:nvPr/>
        </p:nvSpPr>
        <p:spPr>
          <a:xfrm>
            <a:off x="4210200" y="4933800"/>
            <a:ext cx="1560960" cy="303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1" lang="en-US" sz="180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0" name="Google Shape;124;p2"/>
          <p:cNvSpPr/>
          <p:nvPr/>
        </p:nvSpPr>
        <p:spPr>
          <a:xfrm>
            <a:off x="4238640" y="5276880"/>
            <a:ext cx="150372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9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Parent Categories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1" name="Google Shape;125;p2"/>
          <p:cNvSpPr/>
          <p:nvPr/>
        </p:nvSpPr>
        <p:spPr>
          <a:xfrm>
            <a:off x="6229440" y="1371600"/>
            <a:ext cx="5580720" cy="3504240"/>
          </a:xfrm>
          <a:custGeom>
            <a:avLst/>
            <a:gdLst>
              <a:gd name="textAreaLeft" fmla="*/ 0 w 5580720"/>
              <a:gd name="textAreaRight" fmla="*/ 5581080 w 5580720"/>
              <a:gd name="textAreaTop" fmla="*/ 0 h 3504240"/>
              <a:gd name="textAreaBottom" fmla="*/ 3504600 h 3504240"/>
            </a:gdLst>
            <a:ahLst/>
            <a:rect l="textAreaLeft" t="textAreaTop" r="textAreaRight" b="textAreaBottom"/>
            <a:pathLst>
              <a:path w="5581650" h="3505200">
                <a:moveTo>
                  <a:pt x="0" y="0"/>
                </a:moveTo>
                <a:lnTo>
                  <a:pt x="5505447" y="0"/>
                </a:lnTo>
                <a:cubicBezTo>
                  <a:pt x="5547533" y="0"/>
                  <a:pt x="5581650" y="34117"/>
                  <a:pt x="5581650" y="76203"/>
                </a:cubicBezTo>
                <a:lnTo>
                  <a:pt x="5581650" y="3428997"/>
                </a:lnTo>
                <a:cubicBezTo>
                  <a:pt x="5581650" y="3471083"/>
                  <a:pt x="5547533" y="3505200"/>
                  <a:pt x="5505447" y="3505200"/>
                </a:cubicBezTo>
                <a:lnTo>
                  <a:pt x="0" y="35052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2" name="Google Shape;126;p2"/>
          <p:cNvSpPr/>
          <p:nvPr/>
        </p:nvSpPr>
        <p:spPr>
          <a:xfrm>
            <a:off x="6229440" y="1371600"/>
            <a:ext cx="37080" cy="3504240"/>
          </a:xfrm>
          <a:custGeom>
            <a:avLst/>
            <a:gdLst>
              <a:gd name="textAreaLeft" fmla="*/ 0 w 37080"/>
              <a:gd name="textAreaRight" fmla="*/ 37440 w 37080"/>
              <a:gd name="textAreaTop" fmla="*/ 0 h 3504240"/>
              <a:gd name="textAreaBottom" fmla="*/ 3504600 h 3504240"/>
            </a:gdLst>
            <a:ahLst/>
            <a:rect l="textAreaLeft" t="textAreaTop" r="textAreaRight" b="textAreaBottom"/>
            <a:pathLst>
              <a:path w="38100" h="3505200">
                <a:moveTo>
                  <a:pt x="0" y="0"/>
                </a:moveTo>
                <a:lnTo>
                  <a:pt x="38100" y="0"/>
                </a:lnTo>
                <a:lnTo>
                  <a:pt x="38100" y="3505200"/>
                </a:lnTo>
                <a:lnTo>
                  <a:pt x="0" y="3505200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3" name="Google Shape;127;p2"/>
          <p:cNvSpPr/>
          <p:nvPr/>
        </p:nvSpPr>
        <p:spPr>
          <a:xfrm>
            <a:off x="6429240" y="1542960"/>
            <a:ext cx="227520" cy="227520"/>
          </a:xfrm>
          <a:custGeom>
            <a:avLst/>
            <a:gdLst>
              <a:gd name="textAreaLeft" fmla="*/ 0 w 227520"/>
              <a:gd name="textAreaRight" fmla="*/ 227880 w 227520"/>
              <a:gd name="textAreaTop" fmla="*/ 0 h 227520"/>
              <a:gd name="textAreaBottom" fmla="*/ 227880 h 227520"/>
            </a:gdLst>
            <a:ahLst/>
            <a:rect l="textAreaLeft" t="textAreaTop" r="textAreaRight" b="textAreaBottom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4" name="Google Shape;128;p2"/>
          <p:cNvSpPr/>
          <p:nvPr/>
        </p:nvSpPr>
        <p:spPr>
          <a:xfrm>
            <a:off x="6800760" y="1523880"/>
            <a:ext cx="182772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e8e8"/>
                </a:solidFill>
                <a:latin typeface="Liter"/>
                <a:ea typeface="Liter"/>
              </a:rPr>
              <a:t>Target Classification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5" name="Google Shape;129;p2"/>
          <p:cNvSpPr/>
          <p:nvPr/>
        </p:nvSpPr>
        <p:spPr>
          <a:xfrm>
            <a:off x="6400800" y="1905120"/>
            <a:ext cx="5333040" cy="49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44 granular subclasses mapped to </a:t>
            </a: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three primary diagnostic categories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for multi-class classification: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6" name="Google Shape;130;p2"/>
          <p:cNvSpPr/>
          <p:nvPr/>
        </p:nvSpPr>
        <p:spPr>
          <a:xfrm>
            <a:off x="6400800" y="2514600"/>
            <a:ext cx="5256720" cy="684720"/>
          </a:xfrm>
          <a:custGeom>
            <a:avLst/>
            <a:gdLst>
              <a:gd name="textAreaLeft" fmla="*/ 0 w 5256720"/>
              <a:gd name="textAreaRight" fmla="*/ 5257080 w 5256720"/>
              <a:gd name="textAreaTop" fmla="*/ 0 h 684720"/>
              <a:gd name="textAreaBottom" fmla="*/ 685080 h 684720"/>
            </a:gdLst>
            <a:ahLst/>
            <a:rect l="textAreaLeft" t="textAreaTop" r="textAreaRight" b="textAreaBottom"/>
            <a:pathLst>
              <a:path w="5257800" h="685800">
                <a:moveTo>
                  <a:pt x="76199" y="0"/>
                </a:moveTo>
                <a:lnTo>
                  <a:pt x="5181601" y="0"/>
                </a:lnTo>
                <a:cubicBezTo>
                  <a:pt x="5223684" y="0"/>
                  <a:pt x="5257800" y="34116"/>
                  <a:pt x="5257800" y="76199"/>
                </a:cubicBezTo>
                <a:lnTo>
                  <a:pt x="5257800" y="609601"/>
                </a:lnTo>
                <a:cubicBezTo>
                  <a:pt x="5257800" y="651684"/>
                  <a:pt x="5223684" y="685800"/>
                  <a:pt x="5181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7" name="Google Shape;131;p2"/>
          <p:cNvSpPr/>
          <p:nvPr/>
        </p:nvSpPr>
        <p:spPr>
          <a:xfrm>
            <a:off x="6515280" y="266688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Google Shape;132;p2"/>
          <p:cNvSpPr/>
          <p:nvPr/>
        </p:nvSpPr>
        <p:spPr>
          <a:xfrm>
            <a:off x="6477120" y="2666880"/>
            <a:ext cx="4561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0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59" name="Google Shape;133;p2"/>
          <p:cNvSpPr/>
          <p:nvPr/>
        </p:nvSpPr>
        <p:spPr>
          <a:xfrm>
            <a:off x="7010280" y="2629080"/>
            <a:ext cx="30564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Glioma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0" name="Google Shape;134;p2"/>
          <p:cNvSpPr/>
          <p:nvPr/>
        </p:nvSpPr>
        <p:spPr>
          <a:xfrm>
            <a:off x="7010280" y="2895480"/>
            <a:ext cx="303732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Astrocitoma, Glioblastoma, Oligodendroglioma, etc.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1" name="Google Shape;135;p2"/>
          <p:cNvSpPr/>
          <p:nvPr/>
        </p:nvSpPr>
        <p:spPr>
          <a:xfrm>
            <a:off x="6400800" y="3276720"/>
            <a:ext cx="5256720" cy="684720"/>
          </a:xfrm>
          <a:custGeom>
            <a:avLst/>
            <a:gdLst>
              <a:gd name="textAreaLeft" fmla="*/ 0 w 5256720"/>
              <a:gd name="textAreaRight" fmla="*/ 5257080 w 5256720"/>
              <a:gd name="textAreaTop" fmla="*/ 0 h 684720"/>
              <a:gd name="textAreaBottom" fmla="*/ 685080 h 684720"/>
            </a:gdLst>
            <a:ahLst/>
            <a:rect l="textAreaLeft" t="textAreaTop" r="textAreaRight" b="textAreaBottom"/>
            <a:pathLst>
              <a:path w="5257800" h="685800">
                <a:moveTo>
                  <a:pt x="76199" y="0"/>
                </a:moveTo>
                <a:lnTo>
                  <a:pt x="5181601" y="0"/>
                </a:lnTo>
                <a:cubicBezTo>
                  <a:pt x="5223684" y="0"/>
                  <a:pt x="5257800" y="34116"/>
                  <a:pt x="5257800" y="76199"/>
                </a:cubicBezTo>
                <a:lnTo>
                  <a:pt x="5257800" y="609601"/>
                </a:lnTo>
                <a:cubicBezTo>
                  <a:pt x="5257800" y="651684"/>
                  <a:pt x="5223684" y="685800"/>
                  <a:pt x="5181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2" name="Google Shape;136;p2"/>
          <p:cNvSpPr/>
          <p:nvPr/>
        </p:nvSpPr>
        <p:spPr>
          <a:xfrm>
            <a:off x="6515280" y="342900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4a6c82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3" name="Google Shape;137;p2"/>
          <p:cNvSpPr/>
          <p:nvPr/>
        </p:nvSpPr>
        <p:spPr>
          <a:xfrm>
            <a:off x="6477120" y="3429000"/>
            <a:ext cx="4561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4a6c82"/>
                </a:solidFill>
                <a:latin typeface="Quattrocento Sans"/>
                <a:ea typeface="Quattrocento Sans"/>
              </a:rPr>
              <a:t>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4" name="Google Shape;138;p2"/>
          <p:cNvSpPr/>
          <p:nvPr/>
        </p:nvSpPr>
        <p:spPr>
          <a:xfrm>
            <a:off x="7010280" y="3390840"/>
            <a:ext cx="25898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Meningioma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5" name="Google Shape;139;p2"/>
          <p:cNvSpPr/>
          <p:nvPr/>
        </p:nvSpPr>
        <p:spPr>
          <a:xfrm>
            <a:off x="7010280" y="3657600"/>
            <a:ext cx="25707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Meningioma variants across MRI sequences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6" name="Google Shape;140;p2"/>
          <p:cNvSpPr/>
          <p:nvPr/>
        </p:nvSpPr>
        <p:spPr>
          <a:xfrm>
            <a:off x="6400800" y="4038480"/>
            <a:ext cx="5256720" cy="684720"/>
          </a:xfrm>
          <a:custGeom>
            <a:avLst/>
            <a:gdLst>
              <a:gd name="textAreaLeft" fmla="*/ 0 w 5256720"/>
              <a:gd name="textAreaRight" fmla="*/ 5257080 w 5256720"/>
              <a:gd name="textAreaTop" fmla="*/ 0 h 684720"/>
              <a:gd name="textAreaBottom" fmla="*/ 685080 h 684720"/>
            </a:gdLst>
            <a:ahLst/>
            <a:rect l="textAreaLeft" t="textAreaTop" r="textAreaRight" b="textAreaBottom"/>
            <a:pathLst>
              <a:path w="5257800" h="685800">
                <a:moveTo>
                  <a:pt x="76199" y="0"/>
                </a:moveTo>
                <a:lnTo>
                  <a:pt x="5181601" y="0"/>
                </a:lnTo>
                <a:cubicBezTo>
                  <a:pt x="5223684" y="0"/>
                  <a:pt x="5257800" y="34116"/>
                  <a:pt x="5257800" y="76199"/>
                </a:cubicBezTo>
                <a:lnTo>
                  <a:pt x="5257800" y="609601"/>
                </a:lnTo>
                <a:cubicBezTo>
                  <a:pt x="5257800" y="651684"/>
                  <a:pt x="5223684" y="685800"/>
                  <a:pt x="5181601" y="685800"/>
                </a:cubicBezTo>
                <a:lnTo>
                  <a:pt x="76199" y="685800"/>
                </a:lnTo>
                <a:cubicBezTo>
                  <a:pt x="34116" y="685800"/>
                  <a:pt x="0" y="651684"/>
                  <a:pt x="0" y="6096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7" name="Google Shape;141;p2"/>
          <p:cNvSpPr/>
          <p:nvPr/>
        </p:nvSpPr>
        <p:spPr>
          <a:xfrm>
            <a:off x="6515280" y="419112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190500" y="0"/>
                </a:moveTo>
                <a:lnTo>
                  <a:pt x="190500" y="0"/>
                </a:lnTo>
                <a:cubicBezTo>
                  <a:pt x="295640" y="0"/>
                  <a:pt x="381000" y="85360"/>
                  <a:pt x="381000" y="190500"/>
                </a:cubicBezTo>
                <a:lnTo>
                  <a:pt x="381000" y="190500"/>
                </a:lnTo>
                <a:cubicBezTo>
                  <a:pt x="381000" y="295640"/>
                  <a:pt x="295640" y="381000"/>
                  <a:pt x="190500" y="381000"/>
                </a:cubicBezTo>
                <a:lnTo>
                  <a:pt x="190500" y="381000"/>
                </a:lnTo>
                <a:cubicBezTo>
                  <a:pt x="85360" y="381000"/>
                  <a:pt x="0" y="295640"/>
                  <a:pt x="0" y="190500"/>
                </a:cubicBezTo>
                <a:lnTo>
                  <a:pt x="0" y="190500"/>
                </a:lnTo>
                <a:cubicBezTo>
                  <a:pt x="0" y="85360"/>
                  <a:pt x="85360" y="0"/>
                  <a:pt x="1905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8" name="Google Shape;142;p2"/>
          <p:cNvSpPr/>
          <p:nvPr/>
        </p:nvSpPr>
        <p:spPr>
          <a:xfrm>
            <a:off x="6477120" y="4191120"/>
            <a:ext cx="4561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Google Shape;143;p2"/>
          <p:cNvSpPr/>
          <p:nvPr/>
        </p:nvSpPr>
        <p:spPr>
          <a:xfrm>
            <a:off x="7010280" y="4152960"/>
            <a:ext cx="2256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Pituitary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Google Shape;144;p2"/>
          <p:cNvSpPr/>
          <p:nvPr/>
        </p:nvSpPr>
        <p:spPr>
          <a:xfrm>
            <a:off x="7010280" y="4419720"/>
            <a:ext cx="223740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Pituitary adenoma and related tumors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Google Shape;145;p2"/>
          <p:cNvSpPr/>
          <p:nvPr/>
        </p:nvSpPr>
        <p:spPr>
          <a:xfrm>
            <a:off x="6215040" y="5033880"/>
            <a:ext cx="5590080" cy="1437120"/>
          </a:xfrm>
          <a:custGeom>
            <a:avLst/>
            <a:gdLst>
              <a:gd name="textAreaLeft" fmla="*/ 0 w 5590080"/>
              <a:gd name="textAreaRight" fmla="*/ 5590440 w 5590080"/>
              <a:gd name="textAreaTop" fmla="*/ 0 h 1437120"/>
              <a:gd name="textAreaBottom" fmla="*/ 1437480 h 1437120"/>
            </a:gdLst>
            <a:ahLst/>
            <a:rect l="textAreaLeft" t="textAreaTop" r="textAreaRight" b="textAreaBottom"/>
            <a:pathLst>
              <a:path w="5591175" h="1438275">
                <a:moveTo>
                  <a:pt x="76200" y="0"/>
                </a:moveTo>
                <a:lnTo>
                  <a:pt x="5514975" y="0"/>
                </a:lnTo>
                <a:cubicBezTo>
                  <a:pt x="5557059" y="0"/>
                  <a:pt x="5591175" y="34116"/>
                  <a:pt x="5591175" y="76200"/>
                </a:cubicBezTo>
                <a:lnTo>
                  <a:pt x="5591175" y="1362075"/>
                </a:lnTo>
                <a:cubicBezTo>
                  <a:pt x="5591175" y="1404159"/>
                  <a:pt x="5557059" y="1438275"/>
                  <a:pt x="5514975" y="1438275"/>
                </a:cubicBezTo>
                <a:lnTo>
                  <a:pt x="76200" y="1438275"/>
                </a:lnTo>
                <a:cubicBezTo>
                  <a:pt x="34116" y="1438275"/>
                  <a:pt x="0" y="1404159"/>
                  <a:pt x="0" y="1362075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gradFill rotWithShape="0">
            <a:gsLst>
              <a:gs pos="0">
                <a:srgbClr val="d4a26a">
                  <a:alpha val="20000"/>
                </a:srgbClr>
              </a:gs>
              <a:gs pos="100000">
                <a:srgbClr val="4a6c82">
                  <a:alpha val="20000"/>
                </a:srgbClr>
              </a:gs>
            </a:gsLst>
            <a:lin ang="2700000"/>
          </a:gradFill>
          <a:ln w="12700">
            <a:solidFill>
              <a:srgbClr val="d4a26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Google Shape;146;p2"/>
          <p:cNvSpPr/>
          <p:nvPr/>
        </p:nvSpPr>
        <p:spPr>
          <a:xfrm>
            <a:off x="6415200" y="5210280"/>
            <a:ext cx="199080" cy="227520"/>
          </a:xfrm>
          <a:custGeom>
            <a:avLst/>
            <a:gdLst>
              <a:gd name="textAreaLeft" fmla="*/ 0 w 199080"/>
              <a:gd name="textAreaRight" fmla="*/ 199440 w 199080"/>
              <a:gd name="textAreaTop" fmla="*/ 0 h 227520"/>
              <a:gd name="textAreaBottom" fmla="*/ 227880 h 227520"/>
            </a:gdLst>
            <a:ahLst/>
            <a:rect l="textAreaLeft" t="textAreaTop" r="textAreaRight" b="textAreaBottom"/>
            <a:pathLst>
              <a:path w="200025" h="228600">
                <a:moveTo>
                  <a:pt x="128588" y="0"/>
                </a:moveTo>
                <a:lnTo>
                  <a:pt x="57150" y="0"/>
                </a:lnTo>
                <a:cubicBezTo>
                  <a:pt x="49247" y="0"/>
                  <a:pt x="42863" y="6385"/>
                  <a:pt x="42863" y="14288"/>
                </a:cubicBezTo>
                <a:cubicBezTo>
                  <a:pt x="42863" y="22190"/>
                  <a:pt x="49247" y="28575"/>
                  <a:pt x="57150" y="28575"/>
                </a:cubicBezTo>
                <a:lnTo>
                  <a:pt x="57150" y="96217"/>
                </a:lnTo>
                <a:lnTo>
                  <a:pt x="3349" y="190336"/>
                </a:lnTo>
                <a:cubicBezTo>
                  <a:pt x="1161" y="194221"/>
                  <a:pt x="0" y="198552"/>
                  <a:pt x="0" y="203016"/>
                </a:cubicBezTo>
                <a:cubicBezTo>
                  <a:pt x="0" y="217170"/>
                  <a:pt x="11430" y="228600"/>
                  <a:pt x="25584" y="228600"/>
                </a:cubicBezTo>
                <a:lnTo>
                  <a:pt x="174441" y="228600"/>
                </a:lnTo>
                <a:cubicBezTo>
                  <a:pt x="188550" y="228600"/>
                  <a:pt x="200025" y="217170"/>
                  <a:pt x="200025" y="203016"/>
                </a:cubicBezTo>
                <a:cubicBezTo>
                  <a:pt x="200025" y="198552"/>
                  <a:pt x="198864" y="194176"/>
                  <a:pt x="196676" y="190336"/>
                </a:cubicBezTo>
                <a:lnTo>
                  <a:pt x="142875" y="96217"/>
                </a:lnTo>
                <a:lnTo>
                  <a:pt x="142875" y="28575"/>
                </a:lnTo>
                <a:cubicBezTo>
                  <a:pt x="150778" y="28575"/>
                  <a:pt x="157163" y="22190"/>
                  <a:pt x="157163" y="14288"/>
                </a:cubicBezTo>
                <a:cubicBezTo>
                  <a:pt x="157163" y="6385"/>
                  <a:pt x="150778" y="0"/>
                  <a:pt x="142875" y="0"/>
                </a:cubicBezTo>
                <a:lnTo>
                  <a:pt x="128588" y="0"/>
                </a:lnTo>
                <a:close/>
                <a:moveTo>
                  <a:pt x="85725" y="96217"/>
                </a:moveTo>
                <a:lnTo>
                  <a:pt x="85725" y="28575"/>
                </a:lnTo>
                <a:lnTo>
                  <a:pt x="114300" y="28575"/>
                </a:lnTo>
                <a:lnTo>
                  <a:pt x="114300" y="96217"/>
                </a:lnTo>
                <a:cubicBezTo>
                  <a:pt x="114300" y="101173"/>
                  <a:pt x="115595" y="106085"/>
                  <a:pt x="118050" y="110416"/>
                </a:cubicBezTo>
                <a:lnTo>
                  <a:pt x="136624" y="142875"/>
                </a:lnTo>
                <a:lnTo>
                  <a:pt x="63401" y="142875"/>
                </a:lnTo>
                <a:lnTo>
                  <a:pt x="81975" y="110416"/>
                </a:lnTo>
                <a:cubicBezTo>
                  <a:pt x="84430" y="106085"/>
                  <a:pt x="85725" y="101218"/>
                  <a:pt x="85725" y="96217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Google Shape;147;p2"/>
          <p:cNvSpPr/>
          <p:nvPr/>
        </p:nvSpPr>
        <p:spPr>
          <a:xfrm>
            <a:off x="6772320" y="5191200"/>
            <a:ext cx="197064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500" spc="-1" strike="noStrike">
                <a:solidFill>
                  <a:srgbClr val="e8e8e8"/>
                </a:solidFill>
                <a:latin typeface="Liter"/>
                <a:ea typeface="Liter"/>
              </a:rPr>
              <a:t>Research Contribution</a:t>
            </a:r>
            <a:endParaRPr b="0" lang="en-US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Google Shape;148;p2"/>
          <p:cNvSpPr/>
          <p:nvPr/>
        </p:nvSpPr>
        <p:spPr>
          <a:xfrm>
            <a:off x="6372360" y="5572080"/>
            <a:ext cx="5352120" cy="7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This study establishes a </a:t>
            </a: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fundamental performance baseline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using a Custom CNN, enabling future comparative analyses against pre-trained architectures to measure exact performance gains from transfer learning.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154;p3"/>
          <p:cNvSpPr/>
          <p:nvPr/>
        </p:nvSpPr>
        <p:spPr>
          <a:xfrm>
            <a:off x="380880" y="380880"/>
            <a:ext cx="1150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Theoretical Foundation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Google Shape;155;p3"/>
          <p:cNvSpPr/>
          <p:nvPr/>
        </p:nvSpPr>
        <p:spPr>
          <a:xfrm>
            <a:off x="380880" y="685800"/>
            <a:ext cx="11600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e8e8e8"/>
                </a:solidFill>
                <a:latin typeface="Liter"/>
                <a:ea typeface="Liter"/>
              </a:rPr>
              <a:t>Related Work &amp; Literature Review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7" name="Google Shape;156;p3"/>
          <p:cNvSpPr/>
          <p:nvPr/>
        </p:nvSpPr>
        <p:spPr>
          <a:xfrm>
            <a:off x="380880" y="1181160"/>
            <a:ext cx="913320" cy="37080"/>
          </a:xfrm>
          <a:custGeom>
            <a:avLst/>
            <a:gdLst>
              <a:gd name="textAreaLeft" fmla="*/ 0 w 913320"/>
              <a:gd name="textAreaRight" fmla="*/ 913680 w 913320"/>
              <a:gd name="textAreaTop" fmla="*/ 0 h 37080"/>
              <a:gd name="textAreaBottom" fmla="*/ 37440 h 37080"/>
            </a:gdLst>
            <a:ah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Google Shape;157;p3"/>
          <p:cNvSpPr/>
          <p:nvPr/>
        </p:nvSpPr>
        <p:spPr>
          <a:xfrm>
            <a:off x="399960" y="1371600"/>
            <a:ext cx="3684960" cy="3542400"/>
          </a:xfrm>
          <a:custGeom>
            <a:avLst/>
            <a:gdLst>
              <a:gd name="textAreaLeft" fmla="*/ 0 w 3684960"/>
              <a:gd name="textAreaRight" fmla="*/ 3685320 w 3684960"/>
              <a:gd name="textAreaTop" fmla="*/ 0 h 3542400"/>
              <a:gd name="textAreaBottom" fmla="*/ 3542760 h 3542400"/>
            </a:gdLst>
            <a:ahLst/>
            <a:rect l="textAreaLeft" t="textAreaTop" r="textAreaRight" b="textAreaBottom"/>
            <a:pathLst>
              <a:path w="3686175" h="3543300">
                <a:moveTo>
                  <a:pt x="0" y="0"/>
                </a:moveTo>
                <a:lnTo>
                  <a:pt x="3609959" y="0"/>
                </a:lnTo>
                <a:cubicBezTo>
                  <a:pt x="3652052" y="0"/>
                  <a:pt x="3686175" y="34123"/>
                  <a:pt x="3686175" y="76216"/>
                </a:cubicBezTo>
                <a:lnTo>
                  <a:pt x="3686175" y="3467084"/>
                </a:lnTo>
                <a:cubicBezTo>
                  <a:pt x="3686175" y="3509177"/>
                  <a:pt x="3652052" y="3543300"/>
                  <a:pt x="3609959" y="3543300"/>
                </a:cubicBezTo>
                <a:lnTo>
                  <a:pt x="0" y="35433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Google Shape;158;p3"/>
          <p:cNvSpPr/>
          <p:nvPr/>
        </p:nvSpPr>
        <p:spPr>
          <a:xfrm>
            <a:off x="399960" y="1371600"/>
            <a:ext cx="37080" cy="3542400"/>
          </a:xfrm>
          <a:custGeom>
            <a:avLst/>
            <a:gdLst>
              <a:gd name="textAreaLeft" fmla="*/ 0 w 37080"/>
              <a:gd name="textAreaRight" fmla="*/ 37440 w 37080"/>
              <a:gd name="textAreaTop" fmla="*/ 0 h 3542400"/>
              <a:gd name="textAreaBottom" fmla="*/ 3542760 h 3542400"/>
            </a:gdLst>
            <a:ahLst/>
            <a:rect l="textAreaLeft" t="textAreaTop" r="textAreaRight" b="textAreaBottom"/>
            <a:pathLst>
              <a:path w="38100" h="3543300">
                <a:moveTo>
                  <a:pt x="0" y="0"/>
                </a:moveTo>
                <a:lnTo>
                  <a:pt x="38100" y="0"/>
                </a:lnTo>
                <a:lnTo>
                  <a:pt x="38100" y="3543300"/>
                </a:lnTo>
                <a:lnTo>
                  <a:pt x="0" y="35433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Google Shape;159;p3"/>
          <p:cNvSpPr/>
          <p:nvPr/>
        </p:nvSpPr>
        <p:spPr>
          <a:xfrm>
            <a:off x="571680" y="152388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Google Shape;160;p3"/>
          <p:cNvSpPr/>
          <p:nvPr/>
        </p:nvSpPr>
        <p:spPr>
          <a:xfrm>
            <a:off x="666720" y="1619280"/>
            <a:ext cx="189360" cy="189360"/>
          </a:xfrm>
          <a:custGeom>
            <a:avLst/>
            <a:gdLst>
              <a:gd name="textAreaLeft" fmla="*/ 0 w 189360"/>
              <a:gd name="textAreaRight" fmla="*/ 189720 w 189360"/>
              <a:gd name="textAreaTop" fmla="*/ 0 h 189360"/>
              <a:gd name="textAreaBottom" fmla="*/ 189720 h 189360"/>
            </a:gdLst>
            <a:ahLst/>
            <a:rect l="textAreaLeft" t="textAreaTop" r="textAreaRight" b="textAreaBottom"/>
            <a:pathLst>
              <a:path w="190500" h="190500">
                <a:moveTo>
                  <a:pt x="86506" y="1935"/>
                </a:moveTo>
                <a:cubicBezTo>
                  <a:pt x="92050" y="-633"/>
                  <a:pt x="98450" y="-633"/>
                  <a:pt x="103994" y="1935"/>
                </a:cubicBezTo>
                <a:lnTo>
                  <a:pt x="185328" y="39514"/>
                </a:lnTo>
                <a:cubicBezTo>
                  <a:pt x="188491" y="40965"/>
                  <a:pt x="190500" y="44128"/>
                  <a:pt x="190500" y="47625"/>
                </a:cubicBezTo>
                <a:cubicBezTo>
                  <a:pt x="190500" y="51122"/>
                  <a:pt x="188491" y="54285"/>
                  <a:pt x="185328" y="55736"/>
                </a:cubicBezTo>
                <a:lnTo>
                  <a:pt x="103994" y="93315"/>
                </a:lnTo>
                <a:cubicBezTo>
                  <a:pt x="98450" y="95883"/>
                  <a:pt x="92050" y="95883"/>
                  <a:pt x="86506" y="93315"/>
                </a:cubicBezTo>
                <a:lnTo>
                  <a:pt x="5172" y="55736"/>
                </a:lnTo>
                <a:cubicBezTo>
                  <a:pt x="2009" y="54248"/>
                  <a:pt x="0" y="51085"/>
                  <a:pt x="0" y="47625"/>
                </a:cubicBezTo>
                <a:cubicBezTo>
                  <a:pt x="0" y="44165"/>
                  <a:pt x="2009" y="40965"/>
                  <a:pt x="5172" y="39514"/>
                </a:cubicBezTo>
                <a:lnTo>
                  <a:pt x="86506" y="1935"/>
                </a:lnTo>
                <a:close/>
                <a:moveTo>
                  <a:pt x="17897" y="81260"/>
                </a:moveTo>
                <a:lnTo>
                  <a:pt x="79028" y="109500"/>
                </a:lnTo>
                <a:cubicBezTo>
                  <a:pt x="89334" y="114263"/>
                  <a:pt x="101203" y="114263"/>
                  <a:pt x="111509" y="109500"/>
                </a:cubicBezTo>
                <a:lnTo>
                  <a:pt x="172641" y="81260"/>
                </a:lnTo>
                <a:lnTo>
                  <a:pt x="185328" y="87139"/>
                </a:lnTo>
                <a:cubicBezTo>
                  <a:pt x="188491" y="88590"/>
                  <a:pt x="190500" y="91753"/>
                  <a:pt x="190500" y="95250"/>
                </a:cubicBezTo>
                <a:cubicBezTo>
                  <a:pt x="190500" y="98747"/>
                  <a:pt x="188491" y="101910"/>
                  <a:pt x="185328" y="103361"/>
                </a:cubicBezTo>
                <a:lnTo>
                  <a:pt x="103994" y="140940"/>
                </a:lnTo>
                <a:cubicBezTo>
                  <a:pt x="98450" y="143508"/>
                  <a:pt x="92050" y="143508"/>
                  <a:pt x="86506" y="140940"/>
                </a:cubicBezTo>
                <a:lnTo>
                  <a:pt x="5172" y="103361"/>
                </a:lnTo>
                <a:cubicBezTo>
                  <a:pt x="2009" y="101873"/>
                  <a:pt x="0" y="98710"/>
                  <a:pt x="0" y="95250"/>
                </a:cubicBezTo>
                <a:cubicBezTo>
                  <a:pt x="0" y="91790"/>
                  <a:pt x="2009" y="88590"/>
                  <a:pt x="5172" y="87139"/>
                </a:cubicBezTo>
                <a:lnTo>
                  <a:pt x="17859" y="81260"/>
                </a:lnTo>
                <a:close/>
                <a:moveTo>
                  <a:pt x="5172" y="134764"/>
                </a:moveTo>
                <a:lnTo>
                  <a:pt x="17859" y="128885"/>
                </a:lnTo>
                <a:lnTo>
                  <a:pt x="78991" y="157125"/>
                </a:lnTo>
                <a:cubicBezTo>
                  <a:pt x="89297" y="161888"/>
                  <a:pt x="101166" y="161888"/>
                  <a:pt x="111472" y="157125"/>
                </a:cubicBezTo>
                <a:lnTo>
                  <a:pt x="172603" y="128885"/>
                </a:lnTo>
                <a:lnTo>
                  <a:pt x="185291" y="134764"/>
                </a:lnTo>
                <a:cubicBezTo>
                  <a:pt x="188454" y="136215"/>
                  <a:pt x="190463" y="139378"/>
                  <a:pt x="190463" y="142875"/>
                </a:cubicBezTo>
                <a:cubicBezTo>
                  <a:pt x="190463" y="146372"/>
                  <a:pt x="188454" y="149535"/>
                  <a:pt x="185291" y="150986"/>
                </a:cubicBezTo>
                <a:lnTo>
                  <a:pt x="103956" y="188565"/>
                </a:lnTo>
                <a:cubicBezTo>
                  <a:pt x="98413" y="191133"/>
                  <a:pt x="92013" y="191133"/>
                  <a:pt x="86469" y="188565"/>
                </a:cubicBezTo>
                <a:lnTo>
                  <a:pt x="5172" y="150986"/>
                </a:lnTo>
                <a:cubicBezTo>
                  <a:pt x="2009" y="149498"/>
                  <a:pt x="0" y="146335"/>
                  <a:pt x="0" y="142875"/>
                </a:cubicBezTo>
                <a:cubicBezTo>
                  <a:pt x="0" y="139415"/>
                  <a:pt x="2009" y="136215"/>
                  <a:pt x="5172" y="134764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Google Shape;161;p3"/>
          <p:cNvSpPr/>
          <p:nvPr/>
        </p:nvSpPr>
        <p:spPr>
          <a:xfrm>
            <a:off x="1066680" y="1581120"/>
            <a:ext cx="1932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8e8e8"/>
                </a:solidFill>
                <a:latin typeface="Liter"/>
                <a:ea typeface="Liter"/>
              </a:rPr>
              <a:t>Deep Residual Networks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Google Shape;162;p3"/>
          <p:cNvSpPr/>
          <p:nvPr/>
        </p:nvSpPr>
        <p:spPr>
          <a:xfrm>
            <a:off x="571680" y="2019240"/>
            <a:ext cx="3437280" cy="13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ResNet50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introduced "skip connections" (residual blocks) allowing gradients to bypass certain layers, enabling training of substantially deeper networks (50+ layers).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Google Shape;163;p3"/>
          <p:cNvSpPr/>
          <p:nvPr/>
        </p:nvSpPr>
        <p:spPr>
          <a:xfrm>
            <a:off x="571680" y="3495600"/>
            <a:ext cx="3361320" cy="875160"/>
          </a:xfrm>
          <a:custGeom>
            <a:avLst/>
            <a:gdLst>
              <a:gd name="textAreaLeft" fmla="*/ 0 w 3361320"/>
              <a:gd name="textAreaRight" fmla="*/ 3361680 w 3361320"/>
              <a:gd name="textAreaTop" fmla="*/ 0 h 875160"/>
              <a:gd name="textAreaBottom" fmla="*/ 875520 h 875160"/>
            </a:gdLst>
            <a:ahLst/>
            <a:rect l="textAreaLeft" t="textAreaTop" r="textAreaRight" b="textAreaBottom"/>
            <a:pathLst>
              <a:path w="3362325" h="876300">
                <a:moveTo>
                  <a:pt x="76203" y="0"/>
                </a:moveTo>
                <a:lnTo>
                  <a:pt x="3286122" y="0"/>
                </a:lnTo>
                <a:cubicBezTo>
                  <a:pt x="3328208" y="0"/>
                  <a:pt x="3362325" y="34117"/>
                  <a:pt x="3362325" y="76203"/>
                </a:cubicBezTo>
                <a:lnTo>
                  <a:pt x="3362325" y="800097"/>
                </a:lnTo>
                <a:cubicBezTo>
                  <a:pt x="3362325" y="842183"/>
                  <a:pt x="3328208" y="876300"/>
                  <a:pt x="32861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Google Shape;164;p3"/>
          <p:cNvSpPr/>
          <p:nvPr/>
        </p:nvSpPr>
        <p:spPr>
          <a:xfrm>
            <a:off x="685800" y="3629160"/>
            <a:ext cx="13708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Key Innovation: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6" name="Google Shape;165;p3"/>
          <p:cNvSpPr/>
          <p:nvPr/>
        </p:nvSpPr>
        <p:spPr>
          <a:xfrm>
            <a:off x="685800" y="3876840"/>
            <a:ext cx="3199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Mitigates vanishing gradient problem for complex MRI contrast interpretation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Google Shape;166;p3"/>
          <p:cNvSpPr/>
          <p:nvPr/>
        </p:nvSpPr>
        <p:spPr>
          <a:xfrm>
            <a:off x="571680" y="4491000"/>
            <a:ext cx="3361320" cy="8280"/>
          </a:xfrm>
          <a:custGeom>
            <a:avLst/>
            <a:gdLst>
              <a:gd name="textAreaLeft" fmla="*/ 0 w 3361320"/>
              <a:gd name="textAreaRight" fmla="*/ 3361680 w 3361320"/>
              <a:gd name="textAreaTop" fmla="*/ 0 h 8280"/>
              <a:gd name="textAreaBottom" fmla="*/ 8640 h 8280"/>
            </a:gdLst>
            <a:ahLst/>
            <a:rect l="textAreaLeft" t="textAreaTop" r="textAreaRight" b="textAreaBottom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Google Shape;167;p3"/>
          <p:cNvSpPr/>
          <p:nvPr/>
        </p:nvSpPr>
        <p:spPr>
          <a:xfrm>
            <a:off x="571680" y="4610160"/>
            <a:ext cx="3418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Reference:</a:t>
            </a:r>
            <a:r>
              <a:rPr b="0" lang="en-US" sz="9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He et al. (2016), CVPR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Google Shape;168;p3"/>
          <p:cNvSpPr/>
          <p:nvPr/>
        </p:nvSpPr>
        <p:spPr>
          <a:xfrm>
            <a:off x="4260960" y="1371600"/>
            <a:ext cx="3684960" cy="3542400"/>
          </a:xfrm>
          <a:custGeom>
            <a:avLst/>
            <a:gdLst>
              <a:gd name="textAreaLeft" fmla="*/ 0 w 3684960"/>
              <a:gd name="textAreaRight" fmla="*/ 3685320 w 3684960"/>
              <a:gd name="textAreaTop" fmla="*/ 0 h 3542400"/>
              <a:gd name="textAreaBottom" fmla="*/ 3542760 h 3542400"/>
            </a:gdLst>
            <a:ahLst/>
            <a:rect l="textAreaLeft" t="textAreaTop" r="textAreaRight" b="textAreaBottom"/>
            <a:pathLst>
              <a:path w="3686175" h="3543300">
                <a:moveTo>
                  <a:pt x="0" y="0"/>
                </a:moveTo>
                <a:lnTo>
                  <a:pt x="3609959" y="0"/>
                </a:lnTo>
                <a:cubicBezTo>
                  <a:pt x="3652052" y="0"/>
                  <a:pt x="3686175" y="34123"/>
                  <a:pt x="3686175" y="76216"/>
                </a:cubicBezTo>
                <a:lnTo>
                  <a:pt x="3686175" y="3467084"/>
                </a:lnTo>
                <a:cubicBezTo>
                  <a:pt x="3686175" y="3509177"/>
                  <a:pt x="3652052" y="3543300"/>
                  <a:pt x="3609959" y="3543300"/>
                </a:cubicBezTo>
                <a:lnTo>
                  <a:pt x="0" y="35433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0" name="Google Shape;169;p3"/>
          <p:cNvSpPr/>
          <p:nvPr/>
        </p:nvSpPr>
        <p:spPr>
          <a:xfrm>
            <a:off x="4260960" y="1371600"/>
            <a:ext cx="37080" cy="3542400"/>
          </a:xfrm>
          <a:custGeom>
            <a:avLst/>
            <a:gdLst>
              <a:gd name="textAreaLeft" fmla="*/ 0 w 37080"/>
              <a:gd name="textAreaRight" fmla="*/ 37440 w 37080"/>
              <a:gd name="textAreaTop" fmla="*/ 0 h 3542400"/>
              <a:gd name="textAreaBottom" fmla="*/ 3542760 h 3542400"/>
            </a:gdLst>
            <a:ahLst/>
            <a:rect l="textAreaLeft" t="textAreaTop" r="textAreaRight" b="textAreaBottom"/>
            <a:pathLst>
              <a:path w="38100" h="3543300">
                <a:moveTo>
                  <a:pt x="0" y="0"/>
                </a:moveTo>
                <a:lnTo>
                  <a:pt x="38100" y="0"/>
                </a:lnTo>
                <a:lnTo>
                  <a:pt x="38100" y="3543300"/>
                </a:lnTo>
                <a:lnTo>
                  <a:pt x="0" y="35433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Google Shape;170;p3"/>
          <p:cNvSpPr/>
          <p:nvPr/>
        </p:nvSpPr>
        <p:spPr>
          <a:xfrm>
            <a:off x="4432320" y="152388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4a6c82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Google Shape;171;p3"/>
          <p:cNvSpPr/>
          <p:nvPr/>
        </p:nvSpPr>
        <p:spPr>
          <a:xfrm>
            <a:off x="4551480" y="1619280"/>
            <a:ext cx="141840" cy="189360"/>
          </a:xfrm>
          <a:custGeom>
            <a:avLst/>
            <a:gdLst>
              <a:gd name="textAreaLeft" fmla="*/ 0 w 141840"/>
              <a:gd name="textAreaRight" fmla="*/ 142200 w 141840"/>
              <a:gd name="textAreaTop" fmla="*/ 0 h 189360"/>
              <a:gd name="textAreaBottom" fmla="*/ 189720 h 189360"/>
            </a:gdLst>
            <a:ahLst/>
            <a:rect l="textAreaLeft" t="textAreaTop" r="textAreaRight" b="textAreaBottom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Google Shape;172;p3"/>
          <p:cNvSpPr/>
          <p:nvPr/>
        </p:nvSpPr>
        <p:spPr>
          <a:xfrm>
            <a:off x="4927680" y="1581120"/>
            <a:ext cx="204696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8e8e8"/>
                </a:solidFill>
                <a:latin typeface="Liter"/>
                <a:ea typeface="Liter"/>
              </a:rPr>
              <a:t>Lightweight Architectures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4" name="Google Shape;173;p3"/>
          <p:cNvSpPr/>
          <p:nvPr/>
        </p:nvSpPr>
        <p:spPr>
          <a:xfrm>
            <a:off x="4432320" y="2019240"/>
            <a:ext cx="3437280" cy="13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MobileNetV3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utilizes depthwise separable convolutions, drastically reducing parameter count and memory requirements while maintaining diagnostic accuracy.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Google Shape;174;p3"/>
          <p:cNvSpPr/>
          <p:nvPr/>
        </p:nvSpPr>
        <p:spPr>
          <a:xfrm>
            <a:off x="4432320" y="3495600"/>
            <a:ext cx="3361320" cy="875160"/>
          </a:xfrm>
          <a:custGeom>
            <a:avLst/>
            <a:gdLst>
              <a:gd name="textAreaLeft" fmla="*/ 0 w 3361320"/>
              <a:gd name="textAreaRight" fmla="*/ 3361680 w 3361320"/>
              <a:gd name="textAreaTop" fmla="*/ 0 h 875160"/>
              <a:gd name="textAreaBottom" fmla="*/ 875520 h 875160"/>
            </a:gdLst>
            <a:ahLst/>
            <a:rect l="textAreaLeft" t="textAreaTop" r="textAreaRight" b="textAreaBottom"/>
            <a:pathLst>
              <a:path w="3362325" h="876300">
                <a:moveTo>
                  <a:pt x="76203" y="0"/>
                </a:moveTo>
                <a:lnTo>
                  <a:pt x="3286122" y="0"/>
                </a:lnTo>
                <a:cubicBezTo>
                  <a:pt x="3328208" y="0"/>
                  <a:pt x="3362325" y="34117"/>
                  <a:pt x="3362325" y="76203"/>
                </a:cubicBezTo>
                <a:lnTo>
                  <a:pt x="3362325" y="800097"/>
                </a:lnTo>
                <a:cubicBezTo>
                  <a:pt x="3362325" y="842183"/>
                  <a:pt x="3328208" y="876300"/>
                  <a:pt x="32861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Google Shape;175;p3"/>
          <p:cNvSpPr/>
          <p:nvPr/>
        </p:nvSpPr>
        <p:spPr>
          <a:xfrm>
            <a:off x="4546440" y="3629160"/>
            <a:ext cx="9604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4a6c82"/>
                </a:solidFill>
                <a:latin typeface="Quattrocento Sans"/>
                <a:ea typeface="Quattrocento Sans"/>
              </a:rPr>
              <a:t>Key Innovation: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Google Shape;176;p3"/>
          <p:cNvSpPr/>
          <p:nvPr/>
        </p:nvSpPr>
        <p:spPr>
          <a:xfrm>
            <a:off x="4546440" y="3876840"/>
            <a:ext cx="3199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Optimized for resource-constrained clinical and mobile deployment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8" name="Google Shape;177;p3"/>
          <p:cNvSpPr/>
          <p:nvPr/>
        </p:nvSpPr>
        <p:spPr>
          <a:xfrm>
            <a:off x="4432320" y="4491000"/>
            <a:ext cx="3361320" cy="8280"/>
          </a:xfrm>
          <a:custGeom>
            <a:avLst/>
            <a:gdLst>
              <a:gd name="textAreaLeft" fmla="*/ 0 w 3361320"/>
              <a:gd name="textAreaRight" fmla="*/ 3361680 w 3361320"/>
              <a:gd name="textAreaTop" fmla="*/ 0 h 8280"/>
              <a:gd name="textAreaBottom" fmla="*/ 8640 h 8280"/>
            </a:gdLst>
            <a:ahLst/>
            <a:rect l="textAreaLeft" t="textAreaTop" r="textAreaRight" b="textAreaBottom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Google Shape;178;p3"/>
          <p:cNvSpPr/>
          <p:nvPr/>
        </p:nvSpPr>
        <p:spPr>
          <a:xfrm>
            <a:off x="4432320" y="4610160"/>
            <a:ext cx="3418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Reference:</a:t>
            </a:r>
            <a:r>
              <a:rPr b="0" lang="en-US" sz="9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Howard et al. (2019), ICCV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Google Shape;179;p3"/>
          <p:cNvSpPr/>
          <p:nvPr/>
        </p:nvSpPr>
        <p:spPr>
          <a:xfrm>
            <a:off x="8121600" y="1371600"/>
            <a:ext cx="3684960" cy="3542400"/>
          </a:xfrm>
          <a:custGeom>
            <a:avLst/>
            <a:gdLst>
              <a:gd name="textAreaLeft" fmla="*/ 0 w 3684960"/>
              <a:gd name="textAreaRight" fmla="*/ 3685320 w 3684960"/>
              <a:gd name="textAreaTop" fmla="*/ 0 h 3542400"/>
              <a:gd name="textAreaBottom" fmla="*/ 3542760 h 3542400"/>
            </a:gdLst>
            <a:ahLst/>
            <a:rect l="textAreaLeft" t="textAreaTop" r="textAreaRight" b="textAreaBottom"/>
            <a:pathLst>
              <a:path w="3686175" h="3543300">
                <a:moveTo>
                  <a:pt x="0" y="0"/>
                </a:moveTo>
                <a:lnTo>
                  <a:pt x="3609959" y="0"/>
                </a:lnTo>
                <a:cubicBezTo>
                  <a:pt x="3652052" y="0"/>
                  <a:pt x="3686175" y="34123"/>
                  <a:pt x="3686175" y="76216"/>
                </a:cubicBezTo>
                <a:lnTo>
                  <a:pt x="3686175" y="3467084"/>
                </a:lnTo>
                <a:cubicBezTo>
                  <a:pt x="3686175" y="3509177"/>
                  <a:pt x="3652052" y="3543300"/>
                  <a:pt x="3609959" y="3543300"/>
                </a:cubicBezTo>
                <a:lnTo>
                  <a:pt x="0" y="3543300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Google Shape;180;p3"/>
          <p:cNvSpPr/>
          <p:nvPr/>
        </p:nvSpPr>
        <p:spPr>
          <a:xfrm>
            <a:off x="8121600" y="1371600"/>
            <a:ext cx="37080" cy="3542400"/>
          </a:xfrm>
          <a:custGeom>
            <a:avLst/>
            <a:gdLst>
              <a:gd name="textAreaLeft" fmla="*/ 0 w 37080"/>
              <a:gd name="textAreaRight" fmla="*/ 37440 w 37080"/>
              <a:gd name="textAreaTop" fmla="*/ 0 h 3542400"/>
              <a:gd name="textAreaBottom" fmla="*/ 3542760 h 3542400"/>
            </a:gdLst>
            <a:ahLst/>
            <a:rect l="textAreaLeft" t="textAreaTop" r="textAreaRight" b="textAreaBottom"/>
            <a:pathLst>
              <a:path w="38100" h="3543300">
                <a:moveTo>
                  <a:pt x="0" y="0"/>
                </a:moveTo>
                <a:lnTo>
                  <a:pt x="38100" y="0"/>
                </a:lnTo>
                <a:lnTo>
                  <a:pt x="38100" y="3543300"/>
                </a:lnTo>
                <a:lnTo>
                  <a:pt x="0" y="3543300"/>
                </a:lnTo>
                <a:lnTo>
                  <a:pt x="0" y="0"/>
                </a:ln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2" name="Google Shape;181;p3"/>
          <p:cNvSpPr/>
          <p:nvPr/>
        </p:nvSpPr>
        <p:spPr>
          <a:xfrm>
            <a:off x="8292960" y="152388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Google Shape;182;p3"/>
          <p:cNvSpPr/>
          <p:nvPr/>
        </p:nvSpPr>
        <p:spPr>
          <a:xfrm>
            <a:off x="8388360" y="1619280"/>
            <a:ext cx="189360" cy="189360"/>
          </a:xfrm>
          <a:custGeom>
            <a:avLst/>
            <a:gdLst>
              <a:gd name="textAreaLeft" fmla="*/ 0 w 189360"/>
              <a:gd name="textAreaRight" fmla="*/ 189720 w 189360"/>
              <a:gd name="textAreaTop" fmla="*/ 0 h 189360"/>
              <a:gd name="textAreaBottom" fmla="*/ 189720 h 189360"/>
            </a:gdLst>
            <a:ahLst/>
            <a:rect l="textAreaLeft" t="textAreaTop" r="textAreaRight" b="textAreaBottom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Google Shape;183;p3"/>
          <p:cNvSpPr/>
          <p:nvPr/>
        </p:nvSpPr>
        <p:spPr>
          <a:xfrm>
            <a:off x="8788320" y="1581120"/>
            <a:ext cx="145620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8e8e8"/>
                </a:solidFill>
                <a:latin typeface="Liter"/>
                <a:ea typeface="Liter"/>
              </a:rPr>
              <a:t>Optimized Scaling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Google Shape;184;p3"/>
          <p:cNvSpPr/>
          <p:nvPr/>
        </p:nvSpPr>
        <p:spPr>
          <a:xfrm>
            <a:off x="8292960" y="2019240"/>
            <a:ext cx="3437280" cy="136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EfficientNetV2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uses compound scaling balancing network depth, width, and resolution with Fused-MBConv layers for state-of-the-art accuracy.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6" name="Google Shape;185;p3"/>
          <p:cNvSpPr/>
          <p:nvPr/>
        </p:nvSpPr>
        <p:spPr>
          <a:xfrm>
            <a:off x="8292960" y="3495600"/>
            <a:ext cx="3361320" cy="875160"/>
          </a:xfrm>
          <a:custGeom>
            <a:avLst/>
            <a:gdLst>
              <a:gd name="textAreaLeft" fmla="*/ 0 w 3361320"/>
              <a:gd name="textAreaRight" fmla="*/ 3361680 w 3361320"/>
              <a:gd name="textAreaTop" fmla="*/ 0 h 875160"/>
              <a:gd name="textAreaBottom" fmla="*/ 875520 h 875160"/>
            </a:gdLst>
            <a:ahLst/>
            <a:rect l="textAreaLeft" t="textAreaTop" r="textAreaRight" b="textAreaBottom"/>
            <a:pathLst>
              <a:path w="3362325" h="876300">
                <a:moveTo>
                  <a:pt x="76203" y="0"/>
                </a:moveTo>
                <a:lnTo>
                  <a:pt x="3286122" y="0"/>
                </a:lnTo>
                <a:cubicBezTo>
                  <a:pt x="3328208" y="0"/>
                  <a:pt x="3362325" y="34117"/>
                  <a:pt x="3362325" y="76203"/>
                </a:cubicBezTo>
                <a:lnTo>
                  <a:pt x="3362325" y="800097"/>
                </a:lnTo>
                <a:cubicBezTo>
                  <a:pt x="3362325" y="842183"/>
                  <a:pt x="3328208" y="876300"/>
                  <a:pt x="3286122" y="876300"/>
                </a:cubicBezTo>
                <a:lnTo>
                  <a:pt x="76203" y="876300"/>
                </a:lnTo>
                <a:cubicBezTo>
                  <a:pt x="34117" y="876300"/>
                  <a:pt x="0" y="842183"/>
                  <a:pt x="0" y="800097"/>
                </a:cubicBezTo>
                <a:lnTo>
                  <a:pt x="0" y="76203"/>
                </a:lnTo>
                <a:cubicBezTo>
                  <a:pt x="0" y="34145"/>
                  <a:pt x="34145" y="0"/>
                  <a:pt x="76203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Google Shape;186;p3"/>
          <p:cNvSpPr/>
          <p:nvPr/>
        </p:nvSpPr>
        <p:spPr>
          <a:xfrm>
            <a:off x="8407440" y="3629160"/>
            <a:ext cx="96048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0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Key Innovation: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Google Shape;187;p3"/>
          <p:cNvSpPr/>
          <p:nvPr/>
        </p:nvSpPr>
        <p:spPr>
          <a:xfrm>
            <a:off x="8407440" y="3876840"/>
            <a:ext cx="319932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10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Systematic optimization for high-resolution medical scan processing</a:t>
            </a:r>
            <a:endParaRPr b="0" lang="en-US" sz="1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Google Shape;188;p3"/>
          <p:cNvSpPr/>
          <p:nvPr/>
        </p:nvSpPr>
        <p:spPr>
          <a:xfrm>
            <a:off x="8292960" y="4491000"/>
            <a:ext cx="3361320" cy="8280"/>
          </a:xfrm>
          <a:custGeom>
            <a:avLst/>
            <a:gdLst>
              <a:gd name="textAreaLeft" fmla="*/ 0 w 3361320"/>
              <a:gd name="textAreaRight" fmla="*/ 3361680 w 3361320"/>
              <a:gd name="textAreaTop" fmla="*/ 0 h 8280"/>
              <a:gd name="textAreaBottom" fmla="*/ 8640 h 8280"/>
            </a:gdLst>
            <a:ahLst/>
            <a:rect l="textAreaLeft" t="textAreaTop" r="textAreaRight" b="textAreaBottom"/>
            <a:pathLst>
              <a:path w="3362325" h="9525">
                <a:moveTo>
                  <a:pt x="0" y="0"/>
                </a:moveTo>
                <a:lnTo>
                  <a:pt x="3362325" y="0"/>
                </a:lnTo>
                <a:lnTo>
                  <a:pt x="3362325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3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0" name="Google Shape;189;p3"/>
          <p:cNvSpPr/>
          <p:nvPr/>
        </p:nvSpPr>
        <p:spPr>
          <a:xfrm>
            <a:off x="8292960" y="4610160"/>
            <a:ext cx="3418560" cy="15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1" lang="en-US" sz="9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Reference:</a:t>
            </a:r>
            <a:r>
              <a:rPr b="0" lang="en-US" sz="9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Tan &amp; Le (2021), ICML</a:t>
            </a:r>
            <a:endParaRPr b="0" lang="en-US" sz="9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Google Shape;190;p3"/>
          <p:cNvSpPr/>
          <p:nvPr/>
        </p:nvSpPr>
        <p:spPr>
          <a:xfrm>
            <a:off x="385920" y="5072040"/>
            <a:ext cx="11419560" cy="1398960"/>
          </a:xfrm>
          <a:custGeom>
            <a:avLst/>
            <a:gdLst>
              <a:gd name="textAreaLeft" fmla="*/ 0 w 11419560"/>
              <a:gd name="textAreaRight" fmla="*/ 11419920 w 11419560"/>
              <a:gd name="textAreaTop" fmla="*/ 0 h 1398960"/>
              <a:gd name="textAreaBottom" fmla="*/ 1399320 h 1398960"/>
            </a:gdLst>
            <a:ahLst/>
            <a:rect l="textAreaLeft" t="textAreaTop" r="textAreaRight" b="textAreaBottom"/>
            <a:pathLst>
              <a:path w="11420475" h="1400175">
                <a:moveTo>
                  <a:pt x="76198" y="0"/>
                </a:moveTo>
                <a:lnTo>
                  <a:pt x="11344277" y="0"/>
                </a:lnTo>
                <a:cubicBezTo>
                  <a:pt x="11386360" y="0"/>
                  <a:pt x="11420475" y="34115"/>
                  <a:pt x="11420475" y="76198"/>
                </a:cubicBezTo>
                <a:lnTo>
                  <a:pt x="11420475" y="1323977"/>
                </a:lnTo>
                <a:cubicBezTo>
                  <a:pt x="11420475" y="1366060"/>
                  <a:pt x="11386360" y="1400175"/>
                  <a:pt x="11344277" y="1400175"/>
                </a:cubicBezTo>
                <a:lnTo>
                  <a:pt x="76198" y="1400175"/>
                </a:lnTo>
                <a:cubicBezTo>
                  <a:pt x="34115" y="1400175"/>
                  <a:pt x="0" y="1366060"/>
                  <a:pt x="0" y="1323977"/>
                </a:cubicBezTo>
                <a:lnTo>
                  <a:pt x="0" y="76198"/>
                </a:lnTo>
                <a:cubicBezTo>
                  <a:pt x="0" y="34115"/>
                  <a:pt x="34115" y="0"/>
                  <a:pt x="76198" y="0"/>
                </a:cubicBezTo>
                <a:close/>
              </a:path>
            </a:pathLst>
          </a:custGeom>
          <a:gradFill rotWithShape="0">
            <a:gsLst>
              <a:gs pos="0">
                <a:srgbClr val="4a6c82">
                  <a:alpha val="20000"/>
                </a:srgbClr>
              </a:gs>
              <a:gs pos="100000">
                <a:srgbClr val="d4a26a">
                  <a:alpha val="20000"/>
                </a:srgbClr>
              </a:gs>
            </a:gsLst>
            <a:lin ang="0"/>
          </a:gra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Google Shape;191;p3"/>
          <p:cNvSpPr/>
          <p:nvPr/>
        </p:nvSpPr>
        <p:spPr>
          <a:xfrm>
            <a:off x="571680" y="5267160"/>
            <a:ext cx="227520" cy="227520"/>
          </a:xfrm>
          <a:custGeom>
            <a:avLst/>
            <a:gdLst>
              <a:gd name="textAreaLeft" fmla="*/ 0 w 227520"/>
              <a:gd name="textAreaRight" fmla="*/ 227880 w 227520"/>
              <a:gd name="textAreaTop" fmla="*/ 0 h 227520"/>
              <a:gd name="textAreaBottom" fmla="*/ 227880 h 227520"/>
            </a:gdLst>
            <a:ahLst/>
            <a:rect l="textAreaLeft" t="textAreaTop" r="textAreaRight" b="textAreaBottom"/>
            <a:pathLst>
              <a:path w="228600" h="228600">
                <a:moveTo>
                  <a:pt x="114300" y="63088"/>
                </a:moveTo>
                <a:lnTo>
                  <a:pt x="114300" y="201186"/>
                </a:lnTo>
                <a:lnTo>
                  <a:pt x="114523" y="201097"/>
                </a:lnTo>
                <a:cubicBezTo>
                  <a:pt x="138901" y="190961"/>
                  <a:pt x="165065" y="185738"/>
                  <a:pt x="191453" y="185738"/>
                </a:cubicBezTo>
                <a:lnTo>
                  <a:pt x="200025" y="185738"/>
                </a:lnTo>
                <a:lnTo>
                  <a:pt x="200025" y="42863"/>
                </a:lnTo>
                <a:lnTo>
                  <a:pt x="191453" y="42863"/>
                </a:lnTo>
                <a:cubicBezTo>
                  <a:pt x="172611" y="42863"/>
                  <a:pt x="153903" y="46613"/>
                  <a:pt x="136490" y="53846"/>
                </a:cubicBezTo>
                <a:cubicBezTo>
                  <a:pt x="128989" y="56971"/>
                  <a:pt x="121578" y="60052"/>
                  <a:pt x="114300" y="63088"/>
                </a:cubicBezTo>
                <a:close/>
                <a:moveTo>
                  <a:pt x="103093" y="27459"/>
                </a:moveTo>
                <a:lnTo>
                  <a:pt x="114300" y="32147"/>
                </a:lnTo>
                <a:lnTo>
                  <a:pt x="125507" y="27459"/>
                </a:lnTo>
                <a:cubicBezTo>
                  <a:pt x="146402" y="18752"/>
                  <a:pt x="168816" y="14288"/>
                  <a:pt x="191453" y="14288"/>
                </a:cubicBezTo>
                <a:lnTo>
                  <a:pt x="207169" y="14288"/>
                </a:lnTo>
                <a:cubicBezTo>
                  <a:pt x="219001" y="14288"/>
                  <a:pt x="228600" y="23887"/>
                  <a:pt x="228600" y="35719"/>
                </a:cubicBezTo>
                <a:lnTo>
                  <a:pt x="228600" y="192881"/>
                </a:lnTo>
                <a:cubicBezTo>
                  <a:pt x="228600" y="204713"/>
                  <a:pt x="219001" y="214313"/>
                  <a:pt x="207169" y="214313"/>
                </a:cubicBezTo>
                <a:lnTo>
                  <a:pt x="191453" y="214313"/>
                </a:lnTo>
                <a:cubicBezTo>
                  <a:pt x="168816" y="214313"/>
                  <a:pt x="146402" y="218777"/>
                  <a:pt x="125507" y="227484"/>
                </a:cubicBezTo>
                <a:lnTo>
                  <a:pt x="119792" y="229850"/>
                </a:lnTo>
                <a:cubicBezTo>
                  <a:pt x="116265" y="231324"/>
                  <a:pt x="112335" y="231324"/>
                  <a:pt x="108808" y="229850"/>
                </a:cubicBezTo>
                <a:lnTo>
                  <a:pt x="103093" y="227484"/>
                </a:lnTo>
                <a:cubicBezTo>
                  <a:pt x="82198" y="218777"/>
                  <a:pt x="59784" y="214313"/>
                  <a:pt x="37148" y="214313"/>
                </a:cubicBezTo>
                <a:lnTo>
                  <a:pt x="21431" y="214313"/>
                </a:lnTo>
                <a:cubicBezTo>
                  <a:pt x="9599" y="214313"/>
                  <a:pt x="0" y="204713"/>
                  <a:pt x="0" y="192881"/>
                </a:cubicBezTo>
                <a:lnTo>
                  <a:pt x="0" y="35719"/>
                </a:lnTo>
                <a:cubicBezTo>
                  <a:pt x="0" y="23887"/>
                  <a:pt x="9599" y="14288"/>
                  <a:pt x="21431" y="14288"/>
                </a:cubicBezTo>
                <a:lnTo>
                  <a:pt x="37148" y="14288"/>
                </a:lnTo>
                <a:cubicBezTo>
                  <a:pt x="59784" y="14288"/>
                  <a:pt x="82198" y="18752"/>
                  <a:pt x="103093" y="27459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Google Shape;192;p3"/>
          <p:cNvSpPr/>
          <p:nvPr/>
        </p:nvSpPr>
        <p:spPr>
          <a:xfrm>
            <a:off x="981000" y="5229360"/>
            <a:ext cx="10752480" cy="26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50" spc="-1" strike="noStrike">
                <a:solidFill>
                  <a:srgbClr val="e8e8e8"/>
                </a:solidFill>
                <a:latin typeface="Liter"/>
                <a:ea typeface="Liter"/>
              </a:rPr>
              <a:t>Foundational Literature</a:t>
            </a:r>
            <a:endParaRPr b="0" lang="en-US" sz="13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4" name="Google Shape;193;p3"/>
          <p:cNvSpPr/>
          <p:nvPr/>
        </p:nvSpPr>
        <p:spPr>
          <a:xfrm>
            <a:off x="981000" y="5572080"/>
            <a:ext cx="10743120" cy="741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Litjens et al. (2017)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and </a:t>
            </a: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Shen, Wu, and Suk (2017)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demonstrated CNNs excel at learning spatial features from MRI. </a:t>
            </a: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Ronneberger et al. (2015)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introduced U-Net for biomedical segmentation. </a:t>
            </a: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Deepak and Ameer (2019)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showed pre-trained models yield high accuracy for brain tumor classification. </a:t>
            </a:r>
            <a:r>
              <a:rPr b="1" lang="en-US" sz="12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Khan et al. (2024)</a:t>
            </a:r>
            <a:r>
              <a:rPr b="0" lang="en-US" sz="12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proved custom CNNs can be competitive alternatives to massive pre-trained models.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99;p4"/>
          <p:cNvSpPr/>
          <p:nvPr/>
        </p:nvSpPr>
        <p:spPr>
          <a:xfrm>
            <a:off x="353520" y="353520"/>
            <a:ext cx="1155492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11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Experimental Design</a:t>
            </a:r>
            <a:endParaRPr b="0" lang="en-US" sz="11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6" name="Google Shape;200;p4"/>
          <p:cNvSpPr/>
          <p:nvPr/>
        </p:nvSpPr>
        <p:spPr>
          <a:xfrm>
            <a:off x="353520" y="636120"/>
            <a:ext cx="11643120" cy="352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-US" sz="2510" spc="-1" strike="noStrike">
                <a:solidFill>
                  <a:srgbClr val="e8e8e8"/>
                </a:solidFill>
                <a:latin typeface="Liter"/>
                <a:ea typeface="Liter"/>
              </a:rPr>
              <a:t>Methodology: Dataset &amp; Preprocessing</a:t>
            </a:r>
            <a:endParaRPr b="0" lang="en-US" sz="25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Google Shape;201;p4"/>
          <p:cNvSpPr/>
          <p:nvPr/>
        </p:nvSpPr>
        <p:spPr>
          <a:xfrm>
            <a:off x="353520" y="1095480"/>
            <a:ext cx="847080" cy="34200"/>
          </a:xfrm>
          <a:custGeom>
            <a:avLst/>
            <a:gdLst>
              <a:gd name="textAreaLeft" fmla="*/ 0 w 847080"/>
              <a:gd name="textAreaRight" fmla="*/ 847440 w 847080"/>
              <a:gd name="textAreaTop" fmla="*/ 0 h 34200"/>
              <a:gd name="textAreaBottom" fmla="*/ 34560 h 34200"/>
            </a:gdLst>
            <a:ahLst/>
            <a:rect l="textAreaLeft" t="textAreaTop" r="textAreaRight" b="textAreaBottom"/>
            <a:pathLst>
              <a:path w="848139" h="35339">
                <a:moveTo>
                  <a:pt x="0" y="0"/>
                </a:moveTo>
                <a:lnTo>
                  <a:pt x="848139" y="0"/>
                </a:lnTo>
                <a:lnTo>
                  <a:pt x="848139" y="35339"/>
                </a:lnTo>
                <a:lnTo>
                  <a:pt x="0" y="35339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Google Shape;202;p4"/>
          <p:cNvSpPr/>
          <p:nvPr/>
        </p:nvSpPr>
        <p:spPr>
          <a:xfrm>
            <a:off x="371160" y="1272240"/>
            <a:ext cx="5617800" cy="2684520"/>
          </a:xfrm>
          <a:custGeom>
            <a:avLst/>
            <a:gdLst>
              <a:gd name="textAreaLeft" fmla="*/ 0 w 5617800"/>
              <a:gd name="textAreaRight" fmla="*/ 5618160 w 5617800"/>
              <a:gd name="textAreaTop" fmla="*/ 0 h 2684520"/>
              <a:gd name="textAreaBottom" fmla="*/ 2684880 h 2684520"/>
            </a:gdLst>
            <a:ahLst/>
            <a:rect l="textAreaLeft" t="textAreaTop" r="textAreaRight" b="textAreaBottom"/>
            <a:pathLst>
              <a:path w="5618922" h="2685774">
                <a:moveTo>
                  <a:pt x="0" y="0"/>
                </a:moveTo>
                <a:lnTo>
                  <a:pt x="5548232" y="0"/>
                </a:lnTo>
                <a:cubicBezTo>
                  <a:pt x="5587273" y="0"/>
                  <a:pt x="5618922" y="31649"/>
                  <a:pt x="5618922" y="70690"/>
                </a:cubicBezTo>
                <a:lnTo>
                  <a:pt x="5618922" y="2615084"/>
                </a:lnTo>
                <a:cubicBezTo>
                  <a:pt x="5618922" y="2654125"/>
                  <a:pt x="5587273" y="2685774"/>
                  <a:pt x="5548232" y="2685774"/>
                </a:cubicBezTo>
                <a:lnTo>
                  <a:pt x="0" y="2685774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Google Shape;203;p4"/>
          <p:cNvSpPr/>
          <p:nvPr/>
        </p:nvSpPr>
        <p:spPr>
          <a:xfrm>
            <a:off x="371160" y="1272240"/>
            <a:ext cx="34200" cy="2684520"/>
          </a:xfrm>
          <a:custGeom>
            <a:avLst/>
            <a:gdLst>
              <a:gd name="textAreaLeft" fmla="*/ 0 w 34200"/>
              <a:gd name="textAreaRight" fmla="*/ 34560 w 34200"/>
              <a:gd name="textAreaTop" fmla="*/ 0 h 2684520"/>
              <a:gd name="textAreaBottom" fmla="*/ 2684880 h 2684520"/>
            </a:gdLst>
            <a:ahLst/>
            <a:rect l="textAreaLeft" t="textAreaTop" r="textAreaRight" b="textAreaBottom"/>
            <a:pathLst>
              <a:path w="35339" h="2685774">
                <a:moveTo>
                  <a:pt x="0" y="0"/>
                </a:moveTo>
                <a:lnTo>
                  <a:pt x="35339" y="0"/>
                </a:lnTo>
                <a:lnTo>
                  <a:pt x="35339" y="2685774"/>
                </a:lnTo>
                <a:lnTo>
                  <a:pt x="0" y="2685774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Google Shape;204;p4"/>
          <p:cNvSpPr/>
          <p:nvPr/>
        </p:nvSpPr>
        <p:spPr>
          <a:xfrm>
            <a:off x="569880" y="1431360"/>
            <a:ext cx="184320" cy="210960"/>
          </a:xfrm>
          <a:custGeom>
            <a:avLst/>
            <a:gdLst>
              <a:gd name="textAreaLeft" fmla="*/ 0 w 184320"/>
              <a:gd name="textAreaRight" fmla="*/ 184680 w 184320"/>
              <a:gd name="textAreaTop" fmla="*/ 0 h 210960"/>
              <a:gd name="textAreaBottom" fmla="*/ 211320 h 210960"/>
            </a:gdLst>
            <a:ahLst/>
            <a:rect l="textAreaLeft" t="textAreaTop" r="textAreaRight" b="textAreaBottom"/>
            <a:pathLst>
              <a:path w="185530" h="212035">
                <a:moveTo>
                  <a:pt x="185530" y="85228"/>
                </a:moveTo>
                <a:cubicBezTo>
                  <a:pt x="179401" y="89287"/>
                  <a:pt x="172361" y="92558"/>
                  <a:pt x="165031" y="95167"/>
                </a:cubicBezTo>
                <a:cubicBezTo>
                  <a:pt x="145567" y="102125"/>
                  <a:pt x="120015" y="106017"/>
                  <a:pt x="92765" y="106017"/>
                </a:cubicBezTo>
                <a:cubicBezTo>
                  <a:pt x="65515" y="106017"/>
                  <a:pt x="39922" y="102083"/>
                  <a:pt x="20499" y="95167"/>
                </a:cubicBezTo>
                <a:cubicBezTo>
                  <a:pt x="13211" y="92558"/>
                  <a:pt x="6129" y="89287"/>
                  <a:pt x="0" y="85228"/>
                </a:cubicBezTo>
                <a:lnTo>
                  <a:pt x="0" y="119270"/>
                </a:lnTo>
                <a:cubicBezTo>
                  <a:pt x="0" y="137574"/>
                  <a:pt x="41537" y="152400"/>
                  <a:pt x="92765" y="152400"/>
                </a:cubicBezTo>
                <a:cubicBezTo>
                  <a:pt x="143993" y="152400"/>
                  <a:pt x="185530" y="137574"/>
                  <a:pt x="185530" y="119270"/>
                </a:cubicBezTo>
                <a:lnTo>
                  <a:pt x="185530" y="85228"/>
                </a:lnTo>
                <a:close/>
                <a:moveTo>
                  <a:pt x="185530" y="53009"/>
                </a:moveTo>
                <a:lnTo>
                  <a:pt x="185530" y="33130"/>
                </a:lnTo>
                <a:cubicBezTo>
                  <a:pt x="185530" y="14826"/>
                  <a:pt x="143993" y="0"/>
                  <a:pt x="92765" y="0"/>
                </a:cubicBezTo>
                <a:cubicBezTo>
                  <a:pt x="41537" y="0"/>
                  <a:pt x="0" y="14826"/>
                  <a:pt x="0" y="33130"/>
                </a:cubicBezTo>
                <a:lnTo>
                  <a:pt x="0" y="53009"/>
                </a:lnTo>
                <a:cubicBezTo>
                  <a:pt x="0" y="71313"/>
                  <a:pt x="41537" y="86139"/>
                  <a:pt x="92765" y="86139"/>
                </a:cubicBezTo>
                <a:cubicBezTo>
                  <a:pt x="143993" y="86139"/>
                  <a:pt x="185530" y="71313"/>
                  <a:pt x="185530" y="53009"/>
                </a:cubicBezTo>
                <a:close/>
                <a:moveTo>
                  <a:pt x="165031" y="161428"/>
                </a:moveTo>
                <a:cubicBezTo>
                  <a:pt x="145608" y="168344"/>
                  <a:pt x="120056" y="172278"/>
                  <a:pt x="92765" y="172278"/>
                </a:cubicBezTo>
                <a:cubicBezTo>
                  <a:pt x="65474" y="172278"/>
                  <a:pt x="39922" y="168344"/>
                  <a:pt x="20499" y="161428"/>
                </a:cubicBezTo>
                <a:cubicBezTo>
                  <a:pt x="13211" y="158819"/>
                  <a:pt x="6129" y="155547"/>
                  <a:pt x="0" y="151489"/>
                </a:cubicBezTo>
                <a:lnTo>
                  <a:pt x="0" y="178904"/>
                </a:lnTo>
                <a:cubicBezTo>
                  <a:pt x="0" y="197209"/>
                  <a:pt x="41537" y="212035"/>
                  <a:pt x="92765" y="212035"/>
                </a:cubicBezTo>
                <a:cubicBezTo>
                  <a:pt x="143993" y="212035"/>
                  <a:pt x="185530" y="197209"/>
                  <a:pt x="185530" y="178904"/>
                </a:cubicBezTo>
                <a:lnTo>
                  <a:pt x="185530" y="151489"/>
                </a:lnTo>
                <a:cubicBezTo>
                  <a:pt x="179401" y="155547"/>
                  <a:pt x="172361" y="158819"/>
                  <a:pt x="165031" y="161428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Google Shape;205;p4"/>
          <p:cNvSpPr/>
          <p:nvPr/>
        </p:nvSpPr>
        <p:spPr>
          <a:xfrm>
            <a:off x="901080" y="1413720"/>
            <a:ext cx="25279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390" spc="-1" strike="noStrike">
                <a:solidFill>
                  <a:srgbClr val="e8e8e8"/>
                </a:solidFill>
                <a:latin typeface="Liter"/>
                <a:ea typeface="Liter"/>
              </a:rPr>
              <a:t>Dataset Composition</a:t>
            </a:r>
            <a:endParaRPr b="0" lang="en-US" sz="13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2" name="Google Shape;206;p4"/>
          <p:cNvSpPr/>
          <p:nvPr/>
        </p:nvSpPr>
        <p:spPr>
          <a:xfrm>
            <a:off x="529920" y="1766880"/>
            <a:ext cx="5317560" cy="458280"/>
          </a:xfrm>
          <a:custGeom>
            <a:avLst/>
            <a:gdLst>
              <a:gd name="textAreaLeft" fmla="*/ 0 w 5317560"/>
              <a:gd name="textAreaRight" fmla="*/ 5317920 w 5317560"/>
              <a:gd name="textAreaTop" fmla="*/ 0 h 458280"/>
              <a:gd name="textAreaBottom" fmla="*/ 458640 h 458280"/>
            </a:gdLst>
            <a:ahLst/>
            <a:rect l="textAreaLeft" t="textAreaTop" r="textAreaRight" b="textAreaBottom"/>
            <a:pathLst>
              <a:path w="5318539" h="459409">
                <a:moveTo>
                  <a:pt x="70680" y="0"/>
                </a:moveTo>
                <a:lnTo>
                  <a:pt x="5247859" y="0"/>
                </a:lnTo>
                <a:cubicBezTo>
                  <a:pt x="5286895" y="0"/>
                  <a:pt x="5318539" y="31645"/>
                  <a:pt x="5318539" y="70680"/>
                </a:cubicBezTo>
                <a:lnTo>
                  <a:pt x="5318539" y="388729"/>
                </a:lnTo>
                <a:cubicBezTo>
                  <a:pt x="5318539" y="427764"/>
                  <a:pt x="5286895" y="459409"/>
                  <a:pt x="5247859" y="459409"/>
                </a:cubicBezTo>
                <a:lnTo>
                  <a:pt x="70680" y="459409"/>
                </a:lnTo>
                <a:cubicBezTo>
                  <a:pt x="31645" y="459409"/>
                  <a:pt x="0" y="427764"/>
                  <a:pt x="0" y="388729"/>
                </a:cubicBezTo>
                <a:lnTo>
                  <a:pt x="0" y="70680"/>
                </a:lnTo>
                <a:cubicBezTo>
                  <a:pt x="0" y="31645"/>
                  <a:pt x="31645" y="0"/>
                  <a:pt x="70680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3" name="Google Shape;207;p4"/>
          <p:cNvSpPr/>
          <p:nvPr/>
        </p:nvSpPr>
        <p:spPr>
          <a:xfrm>
            <a:off x="636120" y="1890720"/>
            <a:ext cx="104148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11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Total MRI Scans</a:t>
            </a:r>
            <a:endParaRPr b="0" lang="en-US" sz="11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Google Shape;208;p4"/>
          <p:cNvSpPr/>
          <p:nvPr/>
        </p:nvSpPr>
        <p:spPr>
          <a:xfrm>
            <a:off x="5339520" y="1873080"/>
            <a:ext cx="4849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39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4,479</a:t>
            </a:r>
            <a:endParaRPr b="0" lang="en-US" sz="13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5" name="Google Shape;209;p4"/>
          <p:cNvSpPr/>
          <p:nvPr/>
        </p:nvSpPr>
        <p:spPr>
          <a:xfrm>
            <a:off x="529920" y="2297160"/>
            <a:ext cx="5317560" cy="458280"/>
          </a:xfrm>
          <a:custGeom>
            <a:avLst/>
            <a:gdLst>
              <a:gd name="textAreaLeft" fmla="*/ 0 w 5317560"/>
              <a:gd name="textAreaRight" fmla="*/ 5317920 w 5317560"/>
              <a:gd name="textAreaTop" fmla="*/ 0 h 458280"/>
              <a:gd name="textAreaBottom" fmla="*/ 458640 h 458280"/>
            </a:gdLst>
            <a:ahLst/>
            <a:rect l="textAreaLeft" t="textAreaTop" r="textAreaRight" b="textAreaBottom"/>
            <a:pathLst>
              <a:path w="5318539" h="459409">
                <a:moveTo>
                  <a:pt x="70680" y="0"/>
                </a:moveTo>
                <a:lnTo>
                  <a:pt x="5247859" y="0"/>
                </a:lnTo>
                <a:cubicBezTo>
                  <a:pt x="5286895" y="0"/>
                  <a:pt x="5318539" y="31645"/>
                  <a:pt x="5318539" y="70680"/>
                </a:cubicBezTo>
                <a:lnTo>
                  <a:pt x="5318539" y="388729"/>
                </a:lnTo>
                <a:cubicBezTo>
                  <a:pt x="5318539" y="427764"/>
                  <a:pt x="5286895" y="459409"/>
                  <a:pt x="5247859" y="459409"/>
                </a:cubicBezTo>
                <a:lnTo>
                  <a:pt x="70680" y="459409"/>
                </a:lnTo>
                <a:cubicBezTo>
                  <a:pt x="31645" y="459409"/>
                  <a:pt x="0" y="427764"/>
                  <a:pt x="0" y="388729"/>
                </a:cubicBezTo>
                <a:lnTo>
                  <a:pt x="0" y="70680"/>
                </a:lnTo>
                <a:cubicBezTo>
                  <a:pt x="0" y="31645"/>
                  <a:pt x="31645" y="0"/>
                  <a:pt x="70680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6" name="Google Shape;210;p4"/>
          <p:cNvSpPr/>
          <p:nvPr/>
        </p:nvSpPr>
        <p:spPr>
          <a:xfrm>
            <a:off x="636120" y="2420640"/>
            <a:ext cx="164988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11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Granular Subclasses</a:t>
            </a:r>
            <a:endParaRPr b="0" lang="en-US" sz="11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Google Shape;211;p4"/>
          <p:cNvSpPr/>
          <p:nvPr/>
        </p:nvSpPr>
        <p:spPr>
          <a:xfrm>
            <a:off x="5560920" y="2403000"/>
            <a:ext cx="26388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39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44</a:t>
            </a:r>
            <a:endParaRPr b="0" lang="en-US" sz="13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8" name="Google Shape;212;p4"/>
          <p:cNvSpPr/>
          <p:nvPr/>
        </p:nvSpPr>
        <p:spPr>
          <a:xfrm>
            <a:off x="529920" y="2827080"/>
            <a:ext cx="5317560" cy="458280"/>
          </a:xfrm>
          <a:custGeom>
            <a:avLst/>
            <a:gdLst>
              <a:gd name="textAreaLeft" fmla="*/ 0 w 5317560"/>
              <a:gd name="textAreaRight" fmla="*/ 5317920 w 5317560"/>
              <a:gd name="textAreaTop" fmla="*/ 0 h 458280"/>
              <a:gd name="textAreaBottom" fmla="*/ 458640 h 458280"/>
            </a:gdLst>
            <a:ahLst/>
            <a:rect l="textAreaLeft" t="textAreaTop" r="textAreaRight" b="textAreaBottom"/>
            <a:pathLst>
              <a:path w="5318539" h="459409">
                <a:moveTo>
                  <a:pt x="70680" y="0"/>
                </a:moveTo>
                <a:lnTo>
                  <a:pt x="5247859" y="0"/>
                </a:lnTo>
                <a:cubicBezTo>
                  <a:pt x="5286895" y="0"/>
                  <a:pt x="5318539" y="31645"/>
                  <a:pt x="5318539" y="70680"/>
                </a:cubicBezTo>
                <a:lnTo>
                  <a:pt x="5318539" y="388729"/>
                </a:lnTo>
                <a:cubicBezTo>
                  <a:pt x="5318539" y="427764"/>
                  <a:pt x="5286895" y="459409"/>
                  <a:pt x="5247859" y="459409"/>
                </a:cubicBezTo>
                <a:lnTo>
                  <a:pt x="70680" y="459409"/>
                </a:lnTo>
                <a:cubicBezTo>
                  <a:pt x="31645" y="459409"/>
                  <a:pt x="0" y="427764"/>
                  <a:pt x="0" y="388729"/>
                </a:cubicBezTo>
                <a:lnTo>
                  <a:pt x="0" y="70680"/>
                </a:lnTo>
                <a:cubicBezTo>
                  <a:pt x="0" y="31645"/>
                  <a:pt x="31645" y="0"/>
                  <a:pt x="70680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Google Shape;213;p4"/>
          <p:cNvSpPr/>
          <p:nvPr/>
        </p:nvSpPr>
        <p:spPr>
          <a:xfrm>
            <a:off x="636120" y="2950920"/>
            <a:ext cx="142128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11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Parent Categories</a:t>
            </a:r>
            <a:endParaRPr b="0" lang="en-US" sz="11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0" name="Google Shape;214;p4"/>
          <p:cNvSpPr/>
          <p:nvPr/>
        </p:nvSpPr>
        <p:spPr>
          <a:xfrm>
            <a:off x="5645880" y="2933280"/>
            <a:ext cx="1843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39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3</a:t>
            </a:r>
            <a:endParaRPr b="0" lang="en-US" sz="13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Google Shape;215;p4"/>
          <p:cNvSpPr/>
          <p:nvPr/>
        </p:nvSpPr>
        <p:spPr>
          <a:xfrm>
            <a:off x="529920" y="3357360"/>
            <a:ext cx="6328080" cy="458280"/>
          </a:xfrm>
          <a:custGeom>
            <a:avLst/>
            <a:gdLst>
              <a:gd name="textAreaLeft" fmla="*/ 0 w 6328080"/>
              <a:gd name="textAreaRight" fmla="*/ 6328440 w 6328080"/>
              <a:gd name="textAreaTop" fmla="*/ 0 h 458280"/>
              <a:gd name="textAreaBottom" fmla="*/ 458640 h 458280"/>
            </a:gdLst>
            <a:ahLst/>
            <a:rect l="textAreaLeft" t="textAreaTop" r="textAreaRight" b="textAreaBottom"/>
            <a:pathLst>
              <a:path w="5318539" h="459409">
                <a:moveTo>
                  <a:pt x="70680" y="0"/>
                </a:moveTo>
                <a:lnTo>
                  <a:pt x="5247859" y="0"/>
                </a:lnTo>
                <a:cubicBezTo>
                  <a:pt x="5286895" y="0"/>
                  <a:pt x="5318539" y="31645"/>
                  <a:pt x="5318539" y="70680"/>
                </a:cubicBezTo>
                <a:lnTo>
                  <a:pt x="5318539" y="388729"/>
                </a:lnTo>
                <a:cubicBezTo>
                  <a:pt x="5318539" y="427764"/>
                  <a:pt x="5286895" y="459409"/>
                  <a:pt x="5247859" y="459409"/>
                </a:cubicBezTo>
                <a:lnTo>
                  <a:pt x="70680" y="459409"/>
                </a:lnTo>
                <a:cubicBezTo>
                  <a:pt x="31645" y="459409"/>
                  <a:pt x="0" y="427764"/>
                  <a:pt x="0" y="388729"/>
                </a:cubicBezTo>
                <a:lnTo>
                  <a:pt x="0" y="70680"/>
                </a:lnTo>
                <a:cubicBezTo>
                  <a:pt x="0" y="31645"/>
                  <a:pt x="31645" y="0"/>
                  <a:pt x="70680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2" name="Google Shape;216;p4"/>
          <p:cNvSpPr/>
          <p:nvPr/>
        </p:nvSpPr>
        <p:spPr>
          <a:xfrm>
            <a:off x="636120" y="3480840"/>
            <a:ext cx="1649880" cy="210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0" lang="en-US" sz="111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MRI Contrast Types</a:t>
            </a:r>
            <a:endParaRPr b="0" lang="en-US" sz="111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3" name="Google Shape;217;p4"/>
          <p:cNvSpPr/>
          <p:nvPr/>
        </p:nvSpPr>
        <p:spPr>
          <a:xfrm>
            <a:off x="3886200" y="3463200"/>
            <a:ext cx="194040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39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T1, T1C+, T2</a:t>
            </a:r>
            <a:endParaRPr b="0" lang="en-US" sz="13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Google Shape;218;p4"/>
          <p:cNvSpPr/>
          <p:nvPr/>
        </p:nvSpPr>
        <p:spPr>
          <a:xfrm>
            <a:off x="371160" y="4099320"/>
            <a:ext cx="5617800" cy="2755440"/>
          </a:xfrm>
          <a:custGeom>
            <a:avLst/>
            <a:gdLst>
              <a:gd name="textAreaLeft" fmla="*/ 0 w 5617800"/>
              <a:gd name="textAreaRight" fmla="*/ 5618160 w 5617800"/>
              <a:gd name="textAreaTop" fmla="*/ 0 h 2755440"/>
              <a:gd name="textAreaBottom" fmla="*/ 2755800 h 2755440"/>
            </a:gdLst>
            <a:ahLst/>
            <a:rect l="textAreaLeft" t="textAreaTop" r="textAreaRight" b="textAreaBottom"/>
            <a:pathLst>
              <a:path w="5618922" h="2756452">
                <a:moveTo>
                  <a:pt x="0" y="0"/>
                </a:moveTo>
                <a:lnTo>
                  <a:pt x="5548246" y="0"/>
                </a:lnTo>
                <a:cubicBezTo>
                  <a:pt x="5587279" y="0"/>
                  <a:pt x="5618922" y="31642"/>
                  <a:pt x="5618922" y="70675"/>
                </a:cubicBezTo>
                <a:lnTo>
                  <a:pt x="5618922" y="2685777"/>
                </a:lnTo>
                <a:cubicBezTo>
                  <a:pt x="5618922" y="2724810"/>
                  <a:pt x="5587279" y="2756452"/>
                  <a:pt x="5548246" y="2756452"/>
                </a:cubicBezTo>
                <a:lnTo>
                  <a:pt x="0" y="2756452"/>
                </a:lnTo>
                <a:lnTo>
                  <a:pt x="0" y="0"/>
                </a:lnTo>
                <a:close/>
              </a:path>
            </a:pathLst>
          </a:custGeom>
          <a:solidFill>
            <a:srgbClr val="4a6c82">
              <a:alpha val="15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Google Shape;219;p4"/>
          <p:cNvSpPr/>
          <p:nvPr/>
        </p:nvSpPr>
        <p:spPr>
          <a:xfrm>
            <a:off x="371160" y="4099320"/>
            <a:ext cx="34200" cy="2755440"/>
          </a:xfrm>
          <a:custGeom>
            <a:avLst/>
            <a:gdLst>
              <a:gd name="textAreaLeft" fmla="*/ 0 w 34200"/>
              <a:gd name="textAreaRight" fmla="*/ 34560 w 34200"/>
              <a:gd name="textAreaTop" fmla="*/ 0 h 2755440"/>
              <a:gd name="textAreaBottom" fmla="*/ 2755800 h 2755440"/>
            </a:gdLst>
            <a:ahLst/>
            <a:rect l="textAreaLeft" t="textAreaTop" r="textAreaRight" b="textAreaBottom"/>
            <a:pathLst>
              <a:path w="35339" h="2756452">
                <a:moveTo>
                  <a:pt x="0" y="0"/>
                </a:moveTo>
                <a:lnTo>
                  <a:pt x="35339" y="0"/>
                </a:lnTo>
                <a:lnTo>
                  <a:pt x="35339" y="2756452"/>
                </a:lnTo>
                <a:lnTo>
                  <a:pt x="0" y="2756452"/>
                </a:lnTo>
                <a:lnTo>
                  <a:pt x="0" y="0"/>
                </a:ln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Google Shape;220;p4"/>
          <p:cNvSpPr/>
          <p:nvPr/>
        </p:nvSpPr>
        <p:spPr>
          <a:xfrm>
            <a:off x="569880" y="4258440"/>
            <a:ext cx="184320" cy="210960"/>
          </a:xfrm>
          <a:custGeom>
            <a:avLst/>
            <a:gdLst>
              <a:gd name="textAreaLeft" fmla="*/ 0 w 184320"/>
              <a:gd name="textAreaRight" fmla="*/ 184680 w 184320"/>
              <a:gd name="textAreaTop" fmla="*/ 0 h 210960"/>
              <a:gd name="textAreaBottom" fmla="*/ 211320 h 210960"/>
            </a:gdLst>
            <a:ahLst/>
            <a:rect l="textAreaLeft" t="textAreaTop" r="textAreaRight" b="textAreaBottom"/>
            <a:pathLst>
              <a:path w="185530" h="212035">
                <a:moveTo>
                  <a:pt x="33130" y="43070"/>
                </a:moveTo>
                <a:cubicBezTo>
                  <a:pt x="38616" y="43070"/>
                  <a:pt x="43070" y="38616"/>
                  <a:pt x="43070" y="33130"/>
                </a:cubicBezTo>
                <a:cubicBezTo>
                  <a:pt x="43070" y="27645"/>
                  <a:pt x="38616" y="23191"/>
                  <a:pt x="33130" y="23191"/>
                </a:cubicBezTo>
                <a:cubicBezTo>
                  <a:pt x="27645" y="23191"/>
                  <a:pt x="23191" y="27645"/>
                  <a:pt x="23191" y="33130"/>
                </a:cubicBezTo>
                <a:cubicBezTo>
                  <a:pt x="23191" y="38616"/>
                  <a:pt x="27645" y="43070"/>
                  <a:pt x="33130" y="43070"/>
                </a:cubicBezTo>
                <a:close/>
                <a:moveTo>
                  <a:pt x="66261" y="33130"/>
                </a:moveTo>
                <a:cubicBezTo>
                  <a:pt x="66261" y="46714"/>
                  <a:pt x="58103" y="58392"/>
                  <a:pt x="46383" y="63486"/>
                </a:cubicBezTo>
                <a:lnTo>
                  <a:pt x="46383" y="92765"/>
                </a:lnTo>
                <a:lnTo>
                  <a:pt x="119270" y="92765"/>
                </a:lnTo>
                <a:cubicBezTo>
                  <a:pt x="130244" y="92765"/>
                  <a:pt x="139148" y="83861"/>
                  <a:pt x="139148" y="72887"/>
                </a:cubicBezTo>
                <a:lnTo>
                  <a:pt x="139148" y="63486"/>
                </a:lnTo>
                <a:cubicBezTo>
                  <a:pt x="127428" y="58392"/>
                  <a:pt x="119270" y="46714"/>
                  <a:pt x="119270" y="33130"/>
                </a:cubicBezTo>
                <a:cubicBezTo>
                  <a:pt x="119270" y="14826"/>
                  <a:pt x="134095" y="0"/>
                  <a:pt x="152400" y="0"/>
                </a:cubicBezTo>
                <a:cubicBezTo>
                  <a:pt x="170705" y="0"/>
                  <a:pt x="185530" y="14826"/>
                  <a:pt x="185530" y="33130"/>
                </a:cubicBezTo>
                <a:cubicBezTo>
                  <a:pt x="185530" y="46714"/>
                  <a:pt x="177372" y="58392"/>
                  <a:pt x="165652" y="63486"/>
                </a:cubicBezTo>
                <a:lnTo>
                  <a:pt x="165652" y="72887"/>
                </a:lnTo>
                <a:cubicBezTo>
                  <a:pt x="165652" y="98522"/>
                  <a:pt x="144904" y="119270"/>
                  <a:pt x="119270" y="119270"/>
                </a:cubicBezTo>
                <a:lnTo>
                  <a:pt x="46383" y="119270"/>
                </a:lnTo>
                <a:lnTo>
                  <a:pt x="46383" y="148549"/>
                </a:lnTo>
                <a:cubicBezTo>
                  <a:pt x="58103" y="153642"/>
                  <a:pt x="66261" y="165321"/>
                  <a:pt x="66261" y="178904"/>
                </a:cubicBezTo>
                <a:cubicBezTo>
                  <a:pt x="66261" y="197209"/>
                  <a:pt x="51435" y="212035"/>
                  <a:pt x="33130" y="212035"/>
                </a:cubicBezTo>
                <a:cubicBezTo>
                  <a:pt x="14826" y="212035"/>
                  <a:pt x="0" y="197209"/>
                  <a:pt x="0" y="178904"/>
                </a:cubicBezTo>
                <a:cubicBezTo>
                  <a:pt x="0" y="165321"/>
                  <a:pt x="8158" y="153642"/>
                  <a:pt x="19878" y="148549"/>
                </a:cubicBezTo>
                <a:lnTo>
                  <a:pt x="19878" y="63528"/>
                </a:lnTo>
                <a:cubicBezTo>
                  <a:pt x="8158" y="58392"/>
                  <a:pt x="0" y="46714"/>
                  <a:pt x="0" y="33130"/>
                </a:cubicBezTo>
                <a:cubicBezTo>
                  <a:pt x="0" y="14826"/>
                  <a:pt x="14826" y="0"/>
                  <a:pt x="33130" y="0"/>
                </a:cubicBezTo>
                <a:cubicBezTo>
                  <a:pt x="51435" y="0"/>
                  <a:pt x="66261" y="14826"/>
                  <a:pt x="66261" y="33130"/>
                </a:cubicBezTo>
                <a:close/>
                <a:moveTo>
                  <a:pt x="162339" y="33130"/>
                </a:moveTo>
                <a:cubicBezTo>
                  <a:pt x="162339" y="27645"/>
                  <a:pt x="157886" y="23191"/>
                  <a:pt x="152400" y="23191"/>
                </a:cubicBezTo>
                <a:cubicBezTo>
                  <a:pt x="146914" y="23191"/>
                  <a:pt x="142461" y="27645"/>
                  <a:pt x="142461" y="33130"/>
                </a:cubicBezTo>
                <a:cubicBezTo>
                  <a:pt x="142461" y="38616"/>
                  <a:pt x="146914" y="43070"/>
                  <a:pt x="152400" y="43070"/>
                </a:cubicBezTo>
                <a:cubicBezTo>
                  <a:pt x="157886" y="43070"/>
                  <a:pt x="162339" y="38616"/>
                  <a:pt x="162339" y="33130"/>
                </a:cubicBezTo>
                <a:close/>
                <a:moveTo>
                  <a:pt x="33130" y="188843"/>
                </a:moveTo>
                <a:cubicBezTo>
                  <a:pt x="38616" y="188843"/>
                  <a:pt x="43070" y="184390"/>
                  <a:pt x="43070" y="178904"/>
                </a:cubicBezTo>
                <a:cubicBezTo>
                  <a:pt x="43070" y="173419"/>
                  <a:pt x="38616" y="168965"/>
                  <a:pt x="33130" y="168965"/>
                </a:cubicBezTo>
                <a:cubicBezTo>
                  <a:pt x="27645" y="168965"/>
                  <a:pt x="23191" y="173419"/>
                  <a:pt x="23191" y="178904"/>
                </a:cubicBezTo>
                <a:cubicBezTo>
                  <a:pt x="23191" y="184390"/>
                  <a:pt x="27645" y="188843"/>
                  <a:pt x="33130" y="188843"/>
                </a:cubicBez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7" name="Google Shape;221;p4"/>
          <p:cNvSpPr/>
          <p:nvPr/>
        </p:nvSpPr>
        <p:spPr>
          <a:xfrm>
            <a:off x="901080" y="4240800"/>
            <a:ext cx="1842120" cy="246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390" spc="-1" strike="noStrike">
                <a:solidFill>
                  <a:srgbClr val="e8e8e8"/>
                </a:solidFill>
                <a:latin typeface="Liter"/>
                <a:ea typeface="Liter"/>
              </a:rPr>
              <a:t>Splitting overview</a:t>
            </a:r>
            <a:endParaRPr b="0" lang="en-US" sz="13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Google Shape;222;p4"/>
          <p:cNvSpPr/>
          <p:nvPr/>
        </p:nvSpPr>
        <p:spPr>
          <a:xfrm>
            <a:off x="529920" y="4593960"/>
            <a:ext cx="5317560" cy="882360"/>
          </a:xfrm>
          <a:custGeom>
            <a:avLst/>
            <a:gdLst>
              <a:gd name="textAreaLeft" fmla="*/ 0 w 5317560"/>
              <a:gd name="textAreaRight" fmla="*/ 5317920 w 5317560"/>
              <a:gd name="textAreaTop" fmla="*/ 0 h 882360"/>
              <a:gd name="textAreaBottom" fmla="*/ 882720 h 882360"/>
            </a:gdLst>
            <a:ahLst/>
            <a:rect l="textAreaLeft" t="textAreaTop" r="textAreaRight" b="textAreaBottom"/>
            <a:pathLst>
              <a:path w="5318539" h="883478">
                <a:moveTo>
                  <a:pt x="70678" y="0"/>
                </a:moveTo>
                <a:lnTo>
                  <a:pt x="5247861" y="0"/>
                </a:lnTo>
                <a:cubicBezTo>
                  <a:pt x="5286895" y="0"/>
                  <a:pt x="5318539" y="31644"/>
                  <a:pt x="5318539" y="70678"/>
                </a:cubicBezTo>
                <a:lnTo>
                  <a:pt x="5318539" y="812800"/>
                </a:lnTo>
                <a:cubicBezTo>
                  <a:pt x="5318539" y="851835"/>
                  <a:pt x="5286895" y="883478"/>
                  <a:pt x="5247861" y="883478"/>
                </a:cubicBezTo>
                <a:lnTo>
                  <a:pt x="70678" y="883478"/>
                </a:lnTo>
                <a:cubicBezTo>
                  <a:pt x="31644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Google Shape;223;p4"/>
          <p:cNvSpPr/>
          <p:nvPr/>
        </p:nvSpPr>
        <p:spPr>
          <a:xfrm>
            <a:off x="636120" y="4700160"/>
            <a:ext cx="713628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98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PyTorch Models (Custom CNN, ResNet50, EfficientNetV2,MobilenetV3,Attentionnet)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Google Shape;224;p4"/>
          <p:cNvSpPr/>
          <p:nvPr/>
        </p:nvSpPr>
        <p:spPr>
          <a:xfrm>
            <a:off x="583200" y="4947480"/>
            <a:ext cx="175716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1" lang="en-US" sz="167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70%</a:t>
            </a:r>
            <a:endParaRPr b="0" lang="en-US" sz="16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1" name="Google Shape;225;p4"/>
          <p:cNvSpPr/>
          <p:nvPr/>
        </p:nvSpPr>
        <p:spPr>
          <a:xfrm>
            <a:off x="609480" y="5230080"/>
            <a:ext cx="1703880" cy="1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Training</a:t>
            </a:r>
            <a:endParaRPr b="0" lang="en-US" sz="83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Google Shape;226;p4"/>
          <p:cNvSpPr/>
          <p:nvPr/>
        </p:nvSpPr>
        <p:spPr>
          <a:xfrm>
            <a:off x="2307960" y="4947480"/>
            <a:ext cx="175716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1" lang="en-US" sz="167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15%</a:t>
            </a:r>
            <a:endParaRPr b="0" lang="en-US" sz="16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Google Shape;227;p4"/>
          <p:cNvSpPr/>
          <p:nvPr/>
        </p:nvSpPr>
        <p:spPr>
          <a:xfrm>
            <a:off x="2334600" y="5230080"/>
            <a:ext cx="1703880" cy="1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Validation</a:t>
            </a:r>
            <a:endParaRPr b="0" lang="en-US" sz="83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4" name="Google Shape;228;p4"/>
          <p:cNvSpPr/>
          <p:nvPr/>
        </p:nvSpPr>
        <p:spPr>
          <a:xfrm>
            <a:off x="4033080" y="4947480"/>
            <a:ext cx="1757160" cy="28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1" lang="en-US" sz="167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15%</a:t>
            </a:r>
            <a:endParaRPr b="0" lang="en-US" sz="16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Google Shape;229;p4"/>
          <p:cNvSpPr/>
          <p:nvPr/>
        </p:nvSpPr>
        <p:spPr>
          <a:xfrm>
            <a:off x="4059720" y="5230080"/>
            <a:ext cx="1703880" cy="140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839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Testing</a:t>
            </a:r>
            <a:endParaRPr b="0" lang="en-US" sz="839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6" name="Google Shape;230;p4"/>
          <p:cNvSpPr/>
          <p:nvPr/>
        </p:nvSpPr>
        <p:spPr>
          <a:xfrm>
            <a:off x="529920" y="5583600"/>
            <a:ext cx="5317560" cy="882360"/>
          </a:xfrm>
          <a:custGeom>
            <a:avLst/>
            <a:gdLst>
              <a:gd name="textAreaLeft" fmla="*/ 0 w 5317560"/>
              <a:gd name="textAreaRight" fmla="*/ 5317920 w 5317560"/>
              <a:gd name="textAreaTop" fmla="*/ 0 h 882360"/>
              <a:gd name="textAreaBottom" fmla="*/ 882720 h 882360"/>
            </a:gdLst>
            <a:ahLst/>
            <a:rect l="textAreaLeft" t="textAreaTop" r="textAreaRight" b="textAreaBottom"/>
            <a:pathLst>
              <a:path w="5318539" h="883478">
                <a:moveTo>
                  <a:pt x="70678" y="0"/>
                </a:moveTo>
                <a:lnTo>
                  <a:pt x="5247861" y="0"/>
                </a:lnTo>
                <a:cubicBezTo>
                  <a:pt x="5286895" y="0"/>
                  <a:pt x="5318539" y="31644"/>
                  <a:pt x="5318539" y="70678"/>
                </a:cubicBezTo>
                <a:lnTo>
                  <a:pt x="5318539" y="812800"/>
                </a:lnTo>
                <a:cubicBezTo>
                  <a:pt x="5318539" y="851835"/>
                  <a:pt x="5286895" y="883478"/>
                  <a:pt x="5247861" y="883478"/>
                </a:cubicBezTo>
                <a:lnTo>
                  <a:pt x="70678" y="883478"/>
                </a:lnTo>
                <a:cubicBezTo>
                  <a:pt x="31644" y="883478"/>
                  <a:pt x="0" y="851835"/>
                  <a:pt x="0" y="812800"/>
                </a:cubicBezTo>
                <a:lnTo>
                  <a:pt x="0" y="70678"/>
                </a:lnTo>
                <a:cubicBezTo>
                  <a:pt x="0" y="31644"/>
                  <a:pt x="31644" y="0"/>
                  <a:pt x="70678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7" name="Google Shape;236;p4"/>
          <p:cNvSpPr/>
          <p:nvPr/>
        </p:nvSpPr>
        <p:spPr>
          <a:xfrm>
            <a:off x="547920" y="6564240"/>
            <a:ext cx="122760" cy="122760"/>
          </a:xfrm>
          <a:custGeom>
            <a:avLst/>
            <a:gdLst>
              <a:gd name="textAreaLeft" fmla="*/ 0 w 122760"/>
              <a:gd name="textAreaRight" fmla="*/ 123120 w 122760"/>
              <a:gd name="textAreaTop" fmla="*/ 0 h 122760"/>
              <a:gd name="textAreaBottom" fmla="*/ 123120 h 122760"/>
            </a:gdLst>
            <a:ahLst/>
            <a:rect l="textAreaLeft" t="textAreaTop" r="textAreaRight" b="textAreaBottom"/>
            <a:pathLst>
              <a:path w="123687" h="123687">
                <a:moveTo>
                  <a:pt x="61843" y="123687"/>
                </a:moveTo>
                <a:cubicBezTo>
                  <a:pt x="95976" y="123687"/>
                  <a:pt x="123687" y="95976"/>
                  <a:pt x="123687" y="61843"/>
                </a:cubicBezTo>
                <a:cubicBezTo>
                  <a:pt x="123687" y="27711"/>
                  <a:pt x="95976" y="0"/>
                  <a:pt x="61843" y="0"/>
                </a:cubicBezTo>
                <a:cubicBezTo>
                  <a:pt x="27711" y="0"/>
                  <a:pt x="0" y="27711"/>
                  <a:pt x="0" y="61843"/>
                </a:cubicBezTo>
                <a:cubicBezTo>
                  <a:pt x="0" y="95976"/>
                  <a:pt x="27711" y="123687"/>
                  <a:pt x="61843" y="123687"/>
                </a:cubicBezTo>
                <a:close/>
                <a:moveTo>
                  <a:pt x="82233" y="51383"/>
                </a:moveTo>
                <a:lnTo>
                  <a:pt x="62906" y="82305"/>
                </a:lnTo>
                <a:cubicBezTo>
                  <a:pt x="61892" y="83924"/>
                  <a:pt x="60152" y="84938"/>
                  <a:pt x="58244" y="85035"/>
                </a:cubicBezTo>
                <a:cubicBezTo>
                  <a:pt x="56336" y="85131"/>
                  <a:pt x="54500" y="84262"/>
                  <a:pt x="53364" y="82716"/>
                </a:cubicBezTo>
                <a:lnTo>
                  <a:pt x="41769" y="67255"/>
                </a:lnTo>
                <a:cubicBezTo>
                  <a:pt x="39836" y="64694"/>
                  <a:pt x="40367" y="61070"/>
                  <a:pt x="42928" y="59138"/>
                </a:cubicBezTo>
                <a:cubicBezTo>
                  <a:pt x="45489" y="57205"/>
                  <a:pt x="49112" y="57737"/>
                  <a:pt x="51045" y="60297"/>
                </a:cubicBezTo>
                <a:lnTo>
                  <a:pt x="57568" y="68994"/>
                </a:lnTo>
                <a:lnTo>
                  <a:pt x="72400" y="45247"/>
                </a:lnTo>
                <a:cubicBezTo>
                  <a:pt x="74091" y="42542"/>
                  <a:pt x="77667" y="41696"/>
                  <a:pt x="80397" y="43411"/>
                </a:cubicBezTo>
                <a:cubicBezTo>
                  <a:pt x="83126" y="45126"/>
                  <a:pt x="83948" y="48678"/>
                  <a:pt x="82233" y="51407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Google Shape;237;p4"/>
          <p:cNvSpPr/>
          <p:nvPr/>
        </p:nvSpPr>
        <p:spPr>
          <a:xfrm>
            <a:off x="738360" y="6537600"/>
            <a:ext cx="5171040" cy="175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9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Stratified splitting maintains class distributions</a:t>
            </a:r>
            <a:endParaRPr b="0" lang="en-US" sz="9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9" name="Google Shape;244;p4"/>
          <p:cNvSpPr/>
          <p:nvPr/>
        </p:nvSpPr>
        <p:spPr>
          <a:xfrm>
            <a:off x="6451560" y="1873080"/>
            <a:ext cx="343440" cy="64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Google Shape;267;p4"/>
          <p:cNvSpPr/>
          <p:nvPr/>
        </p:nvSpPr>
        <p:spPr>
          <a:xfrm>
            <a:off x="6610680" y="6554160"/>
            <a:ext cx="16995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600" spc="-1" strike="noStrike">
                <a:solidFill>
                  <a:srgbClr val="333333"/>
                </a:solidFill>
                <a:latin typeface="Microsoft Yahei"/>
                <a:ea typeface="Microsoft Yahei"/>
              </a:rPr>
              <a:t> 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"/>
          <p:cNvSpPr txBox="1"/>
          <p:nvPr/>
        </p:nvSpPr>
        <p:spPr>
          <a:xfrm>
            <a:off x="685800" y="5715000"/>
            <a:ext cx="372060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5-Fold Stratified K-Fold (applied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only within the 70% training set)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273;p5"/>
          <p:cNvSpPr/>
          <p:nvPr/>
        </p:nvSpPr>
        <p:spPr>
          <a:xfrm>
            <a:off x="317520" y="317520"/>
            <a:ext cx="11619360" cy="189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00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Model Implementation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3" name="Google Shape;274;p5"/>
          <p:cNvSpPr/>
          <p:nvPr/>
        </p:nvSpPr>
        <p:spPr>
          <a:xfrm>
            <a:off x="317520" y="539640"/>
            <a:ext cx="11698920" cy="316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-US" sz="2250" spc="-1" strike="noStrike">
                <a:solidFill>
                  <a:srgbClr val="e8e8e8"/>
                </a:solidFill>
                <a:latin typeface="Liter"/>
                <a:ea typeface="Liter"/>
              </a:rPr>
              <a:t>CNN Architectures: Four Strategic Approaches</a:t>
            </a:r>
            <a:endParaRPr b="0" lang="en-US" sz="2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Google Shape;275;p5"/>
          <p:cNvSpPr/>
          <p:nvPr/>
        </p:nvSpPr>
        <p:spPr>
          <a:xfrm>
            <a:off x="317520" y="920880"/>
            <a:ext cx="761040" cy="30600"/>
          </a:xfrm>
          <a:custGeom>
            <a:avLst/>
            <a:gdLst>
              <a:gd name="textAreaLeft" fmla="*/ 0 w 761040"/>
              <a:gd name="textAreaRight" fmla="*/ 761400 w 761040"/>
              <a:gd name="textAreaTop" fmla="*/ 0 h 30600"/>
              <a:gd name="textAreaBottom" fmla="*/ 30960 h 30600"/>
            </a:gdLst>
            <a:ahLst/>
            <a:rect l="textAreaLeft" t="textAreaTop" r="textAreaRight" b="textAreaBottom"/>
            <a:pathLst>
              <a:path w="762000" h="31750">
                <a:moveTo>
                  <a:pt x="0" y="0"/>
                </a:moveTo>
                <a:lnTo>
                  <a:pt x="762000" y="0"/>
                </a:lnTo>
                <a:lnTo>
                  <a:pt x="762000" y="31750"/>
                </a:lnTo>
                <a:lnTo>
                  <a:pt x="0" y="3175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5" name="Google Shape;276;p5"/>
          <p:cNvSpPr/>
          <p:nvPr/>
        </p:nvSpPr>
        <p:spPr>
          <a:xfrm>
            <a:off x="325440" y="1023840"/>
            <a:ext cx="5713920" cy="2745360"/>
          </a:xfrm>
          <a:custGeom>
            <a:avLst/>
            <a:gdLst>
              <a:gd name="textAreaLeft" fmla="*/ 0 w 5713920"/>
              <a:gd name="textAreaRight" fmla="*/ 5714280 w 5713920"/>
              <a:gd name="textAreaTop" fmla="*/ 0 h 2745360"/>
              <a:gd name="textAreaBottom" fmla="*/ 2745720 h 2745360"/>
            </a:gdLst>
            <a:ahLst/>
            <a:rect l="textAreaLeft" t="textAreaTop" r="textAreaRight" b="textAreaBottom"/>
            <a:pathLst>
              <a:path w="5715000" h="2746375">
                <a:moveTo>
                  <a:pt x="63496" y="0"/>
                </a:moveTo>
                <a:lnTo>
                  <a:pt x="5651504" y="0"/>
                </a:lnTo>
                <a:cubicBezTo>
                  <a:pt x="5686572" y="0"/>
                  <a:pt x="5715000" y="28428"/>
                  <a:pt x="5715000" y="63496"/>
                </a:cubicBezTo>
                <a:lnTo>
                  <a:pt x="5715000" y="2682879"/>
                </a:lnTo>
                <a:cubicBezTo>
                  <a:pt x="5715000" y="2717947"/>
                  <a:pt x="5686572" y="2746375"/>
                  <a:pt x="5651504" y="2746375"/>
                </a:cubicBezTo>
                <a:lnTo>
                  <a:pt x="63496" y="2746375"/>
                </a:lnTo>
                <a:cubicBezTo>
                  <a:pt x="28428" y="2746375"/>
                  <a:pt x="0" y="2717947"/>
                  <a:pt x="0" y="268287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gradFill rotWithShape="0">
            <a:gsLst>
              <a:gs pos="0">
                <a:srgbClr val="d4a26a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2700000"/>
          </a:gradFill>
          <a:ln w="25400">
            <a:solidFill>
              <a:srgbClr val="d4a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Google Shape;277;p5"/>
          <p:cNvSpPr/>
          <p:nvPr/>
        </p:nvSpPr>
        <p:spPr>
          <a:xfrm>
            <a:off x="428760" y="112716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Google Shape;278;p5"/>
          <p:cNvSpPr/>
          <p:nvPr/>
        </p:nvSpPr>
        <p:spPr>
          <a:xfrm>
            <a:off x="511920" y="1222200"/>
            <a:ext cx="213120" cy="189360"/>
          </a:xfrm>
          <a:custGeom>
            <a:avLst/>
            <a:gdLst>
              <a:gd name="textAreaLeft" fmla="*/ 0 w 213120"/>
              <a:gd name="textAreaRight" fmla="*/ 213480 w 213120"/>
              <a:gd name="textAreaTop" fmla="*/ 0 h 189360"/>
              <a:gd name="textAreaBottom" fmla="*/ 189720 h 189360"/>
            </a:gdLst>
            <a:ahLst/>
            <a:rect l="textAreaLeft" t="textAreaTop" r="textAreaRight" b="textAreaBottom"/>
            <a:pathLst>
              <a:path w="214313" h="190500">
                <a:moveTo>
                  <a:pt x="134243" y="446"/>
                </a:moveTo>
                <a:cubicBezTo>
                  <a:pt x="127918" y="-1377"/>
                  <a:pt x="121332" y="2307"/>
                  <a:pt x="119509" y="8632"/>
                </a:cubicBezTo>
                <a:lnTo>
                  <a:pt x="71884" y="175320"/>
                </a:lnTo>
                <a:cubicBezTo>
                  <a:pt x="70061" y="181645"/>
                  <a:pt x="73744" y="188230"/>
                  <a:pt x="80070" y="190054"/>
                </a:cubicBezTo>
                <a:cubicBezTo>
                  <a:pt x="86395" y="191877"/>
                  <a:pt x="92980" y="188193"/>
                  <a:pt x="94804" y="181868"/>
                </a:cubicBezTo>
                <a:lnTo>
                  <a:pt x="142429" y="15180"/>
                </a:lnTo>
                <a:cubicBezTo>
                  <a:pt x="144252" y="8855"/>
                  <a:pt x="140568" y="2270"/>
                  <a:pt x="134243" y="446"/>
                </a:cubicBezTo>
                <a:close/>
                <a:moveTo>
                  <a:pt x="158279" y="51085"/>
                </a:moveTo>
                <a:cubicBezTo>
                  <a:pt x="153628" y="55736"/>
                  <a:pt x="153628" y="63289"/>
                  <a:pt x="158279" y="67940"/>
                </a:cubicBezTo>
                <a:lnTo>
                  <a:pt x="185589" y="95250"/>
                </a:lnTo>
                <a:lnTo>
                  <a:pt x="158279" y="122560"/>
                </a:lnTo>
                <a:cubicBezTo>
                  <a:pt x="153628" y="127211"/>
                  <a:pt x="153628" y="134764"/>
                  <a:pt x="158279" y="139415"/>
                </a:cubicBezTo>
                <a:cubicBezTo>
                  <a:pt x="162930" y="144066"/>
                  <a:pt x="170483" y="144066"/>
                  <a:pt x="175133" y="139415"/>
                </a:cubicBezTo>
                <a:lnTo>
                  <a:pt x="210852" y="103696"/>
                </a:lnTo>
                <a:cubicBezTo>
                  <a:pt x="215503" y="99045"/>
                  <a:pt x="215503" y="91492"/>
                  <a:pt x="210852" y="86841"/>
                </a:cubicBezTo>
                <a:lnTo>
                  <a:pt x="175133" y="51122"/>
                </a:lnTo>
                <a:cubicBezTo>
                  <a:pt x="170483" y="46472"/>
                  <a:pt x="162930" y="46472"/>
                  <a:pt x="158279" y="51122"/>
                </a:cubicBezTo>
                <a:close/>
                <a:moveTo>
                  <a:pt x="56071" y="51085"/>
                </a:moveTo>
                <a:cubicBezTo>
                  <a:pt x="51420" y="46434"/>
                  <a:pt x="43867" y="46434"/>
                  <a:pt x="39216" y="51085"/>
                </a:cubicBezTo>
                <a:lnTo>
                  <a:pt x="3497" y="86804"/>
                </a:lnTo>
                <a:cubicBezTo>
                  <a:pt x="-1153" y="91455"/>
                  <a:pt x="-1153" y="99008"/>
                  <a:pt x="3497" y="103659"/>
                </a:cubicBezTo>
                <a:lnTo>
                  <a:pt x="39216" y="139378"/>
                </a:lnTo>
                <a:cubicBezTo>
                  <a:pt x="43867" y="144028"/>
                  <a:pt x="51420" y="144028"/>
                  <a:pt x="56071" y="139378"/>
                </a:cubicBezTo>
                <a:cubicBezTo>
                  <a:pt x="60722" y="134727"/>
                  <a:pt x="60722" y="127174"/>
                  <a:pt x="56071" y="122523"/>
                </a:cubicBezTo>
                <a:lnTo>
                  <a:pt x="28761" y="95250"/>
                </a:lnTo>
                <a:lnTo>
                  <a:pt x="56034" y="67940"/>
                </a:lnTo>
                <a:cubicBezTo>
                  <a:pt x="60685" y="63289"/>
                  <a:pt x="60685" y="55736"/>
                  <a:pt x="56034" y="51085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Google Shape;279;p5"/>
          <p:cNvSpPr/>
          <p:nvPr/>
        </p:nvSpPr>
        <p:spPr>
          <a:xfrm>
            <a:off x="905040" y="1127160"/>
            <a:ext cx="22946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e8e8"/>
                </a:solidFill>
                <a:latin typeface="Liter"/>
                <a:ea typeface="Liter"/>
              </a:rPr>
              <a:t>Custom CNN Baseline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9" name="Google Shape;280;p5"/>
          <p:cNvSpPr/>
          <p:nvPr/>
        </p:nvSpPr>
        <p:spPr>
          <a:xfrm>
            <a:off x="905040" y="1349280"/>
            <a:ext cx="16023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Built from Scratch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Google Shape;281;p5"/>
          <p:cNvSpPr/>
          <p:nvPr/>
        </p:nvSpPr>
        <p:spPr>
          <a:xfrm>
            <a:off x="428760" y="1571760"/>
            <a:ext cx="557100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Sequential network with </a:t>
            </a:r>
            <a:r>
              <a:rPr b="1" lang="en-US" sz="10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2D Convolutional layers</a:t>
            </a: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for feature extraction and </a:t>
            </a:r>
            <a:r>
              <a:rPr b="1" lang="en-US" sz="10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MaxPooling layers</a:t>
            </a: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for spatial downsampling.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1" name="Google Shape;282;p5"/>
          <p:cNvSpPr/>
          <p:nvPr/>
        </p:nvSpPr>
        <p:spPr>
          <a:xfrm>
            <a:off x="428760" y="1984320"/>
            <a:ext cx="5507640" cy="1141920"/>
          </a:xfrm>
          <a:custGeom>
            <a:avLst/>
            <a:gdLst>
              <a:gd name="textAreaLeft" fmla="*/ 0 w 5507640"/>
              <a:gd name="textAreaRight" fmla="*/ 5508000 w 5507640"/>
              <a:gd name="textAreaTop" fmla="*/ 0 h 1141920"/>
              <a:gd name="textAreaBottom" fmla="*/ 1142280 h 1141920"/>
            </a:gdLst>
            <a:ahLst/>
            <a:rect l="textAreaLeft" t="textAreaTop" r="textAreaRight" b="textAreaBottom"/>
            <a:pathLst>
              <a:path w="5508625" h="1143000">
                <a:moveTo>
                  <a:pt x="63505" y="0"/>
                </a:moveTo>
                <a:lnTo>
                  <a:pt x="5445120" y="0"/>
                </a:lnTo>
                <a:cubicBezTo>
                  <a:pt x="5480193" y="0"/>
                  <a:pt x="5508625" y="28432"/>
                  <a:pt x="5508625" y="63505"/>
                </a:cubicBezTo>
                <a:lnTo>
                  <a:pt x="5508625" y="1079495"/>
                </a:lnTo>
                <a:cubicBezTo>
                  <a:pt x="5508625" y="1114568"/>
                  <a:pt x="5480193" y="1143000"/>
                  <a:pt x="5445120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Google Shape;283;p5"/>
          <p:cNvSpPr/>
          <p:nvPr/>
        </p:nvSpPr>
        <p:spPr>
          <a:xfrm>
            <a:off x="523800" y="2079720"/>
            <a:ext cx="537264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Architecture Details: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Google Shape;284;p5"/>
          <p:cNvSpPr/>
          <p:nvPr/>
        </p:nvSpPr>
        <p:spPr>
          <a:xfrm>
            <a:off x="546840" y="232560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Google Shape;285;p5"/>
          <p:cNvSpPr/>
          <p:nvPr/>
        </p:nvSpPr>
        <p:spPr>
          <a:xfrm>
            <a:off x="706320" y="230184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Sequential convolutional blocks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Google Shape;286;p5"/>
          <p:cNvSpPr/>
          <p:nvPr/>
        </p:nvSpPr>
        <p:spPr>
          <a:xfrm>
            <a:off x="546840" y="251604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Google Shape;287;p5"/>
          <p:cNvSpPr/>
          <p:nvPr/>
        </p:nvSpPr>
        <p:spPr>
          <a:xfrm>
            <a:off x="706320" y="249228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ReLU activation functions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7" name="Google Shape;288;p5"/>
          <p:cNvSpPr/>
          <p:nvPr/>
        </p:nvSpPr>
        <p:spPr>
          <a:xfrm>
            <a:off x="546840" y="270684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8" name="Google Shape;289;p5"/>
          <p:cNvSpPr/>
          <p:nvPr/>
        </p:nvSpPr>
        <p:spPr>
          <a:xfrm>
            <a:off x="706320" y="268272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Batch normalization layers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Google Shape;290;p5"/>
          <p:cNvSpPr/>
          <p:nvPr/>
        </p:nvSpPr>
        <p:spPr>
          <a:xfrm>
            <a:off x="546840" y="289728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0" name="Google Shape;291;p5"/>
          <p:cNvSpPr/>
          <p:nvPr/>
        </p:nvSpPr>
        <p:spPr>
          <a:xfrm>
            <a:off x="706320" y="287352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Dropout (0.5) for regularization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Google Shape;292;p5"/>
          <p:cNvSpPr/>
          <p:nvPr/>
        </p:nvSpPr>
        <p:spPr>
          <a:xfrm>
            <a:off x="428760" y="3191040"/>
            <a:ext cx="2721600" cy="475200"/>
          </a:xfrm>
          <a:custGeom>
            <a:avLst/>
            <a:gdLst>
              <a:gd name="textAreaLeft" fmla="*/ 0 w 2721600"/>
              <a:gd name="textAreaRight" fmla="*/ 2721960 w 2721600"/>
              <a:gd name="textAreaTop" fmla="*/ 0 h 475200"/>
              <a:gd name="textAreaBottom" fmla="*/ 475560 h 475200"/>
            </a:gdLst>
            <a:ahLst/>
            <a:rect l="textAreaLeft" t="textAreaTop" r="textAreaRight" b="textAreaBottom"/>
            <a:pathLst>
              <a:path w="2722563" h="476250">
                <a:moveTo>
                  <a:pt x="31752" y="0"/>
                </a:moveTo>
                <a:lnTo>
                  <a:pt x="2690811" y="0"/>
                </a:lnTo>
                <a:cubicBezTo>
                  <a:pt x="2708347" y="0"/>
                  <a:pt x="2722563" y="14216"/>
                  <a:pt x="2722563" y="31752"/>
                </a:cubicBezTo>
                <a:lnTo>
                  <a:pt x="2722563" y="444498"/>
                </a:lnTo>
                <a:cubicBezTo>
                  <a:pt x="2722563" y="462034"/>
                  <a:pt x="2708347" y="476250"/>
                  <a:pt x="269081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d4a26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Google Shape;293;p5"/>
          <p:cNvSpPr/>
          <p:nvPr/>
        </p:nvSpPr>
        <p:spPr>
          <a:xfrm>
            <a:off x="452520" y="3254400"/>
            <a:ext cx="26737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Low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Google Shape;294;p5"/>
          <p:cNvSpPr/>
          <p:nvPr/>
        </p:nvSpPr>
        <p:spPr>
          <a:xfrm>
            <a:off x="468360" y="3476520"/>
            <a:ext cx="264204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Computational Load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4" name="Google Shape;295;p5"/>
          <p:cNvSpPr/>
          <p:nvPr/>
        </p:nvSpPr>
        <p:spPr>
          <a:xfrm>
            <a:off x="3214800" y="3191040"/>
            <a:ext cx="2721600" cy="475200"/>
          </a:xfrm>
          <a:custGeom>
            <a:avLst/>
            <a:gdLst>
              <a:gd name="textAreaLeft" fmla="*/ 0 w 2721600"/>
              <a:gd name="textAreaRight" fmla="*/ 2721960 w 2721600"/>
              <a:gd name="textAreaTop" fmla="*/ 0 h 475200"/>
              <a:gd name="textAreaBottom" fmla="*/ 475560 h 475200"/>
            </a:gdLst>
            <a:ahLst/>
            <a:rect l="textAreaLeft" t="textAreaTop" r="textAreaRight" b="textAreaBottom"/>
            <a:pathLst>
              <a:path w="2722563" h="476250">
                <a:moveTo>
                  <a:pt x="31752" y="0"/>
                </a:moveTo>
                <a:lnTo>
                  <a:pt x="2690811" y="0"/>
                </a:lnTo>
                <a:cubicBezTo>
                  <a:pt x="2708347" y="0"/>
                  <a:pt x="2722563" y="14216"/>
                  <a:pt x="2722563" y="31752"/>
                </a:cubicBezTo>
                <a:lnTo>
                  <a:pt x="2722563" y="444498"/>
                </a:lnTo>
                <a:cubicBezTo>
                  <a:pt x="2722563" y="462034"/>
                  <a:pt x="2708347" y="476250"/>
                  <a:pt x="269081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d4a26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5" name="Google Shape;296;p5"/>
          <p:cNvSpPr/>
          <p:nvPr/>
        </p:nvSpPr>
        <p:spPr>
          <a:xfrm>
            <a:off x="3238560" y="3254400"/>
            <a:ext cx="26737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Multi-Class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6" name="Google Shape;297;p5"/>
          <p:cNvSpPr/>
          <p:nvPr/>
        </p:nvSpPr>
        <p:spPr>
          <a:xfrm>
            <a:off x="3254400" y="3476520"/>
            <a:ext cx="264204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Target Task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Google Shape;298;p5"/>
          <p:cNvSpPr/>
          <p:nvPr/>
        </p:nvSpPr>
        <p:spPr>
          <a:xfrm>
            <a:off x="6151680" y="1023840"/>
            <a:ext cx="5713920" cy="2745360"/>
          </a:xfrm>
          <a:custGeom>
            <a:avLst/>
            <a:gdLst>
              <a:gd name="textAreaLeft" fmla="*/ 0 w 5713920"/>
              <a:gd name="textAreaRight" fmla="*/ 5714280 w 5713920"/>
              <a:gd name="textAreaTop" fmla="*/ 0 h 2745360"/>
              <a:gd name="textAreaBottom" fmla="*/ 2745720 h 2745360"/>
            </a:gdLst>
            <a:ahLst/>
            <a:rect l="textAreaLeft" t="textAreaTop" r="textAreaRight" b="textAreaBottom"/>
            <a:pathLst>
              <a:path w="5715000" h="2746375">
                <a:moveTo>
                  <a:pt x="63496" y="0"/>
                </a:moveTo>
                <a:lnTo>
                  <a:pt x="5651504" y="0"/>
                </a:lnTo>
                <a:cubicBezTo>
                  <a:pt x="5686572" y="0"/>
                  <a:pt x="5715000" y="28428"/>
                  <a:pt x="5715000" y="63496"/>
                </a:cubicBezTo>
                <a:lnTo>
                  <a:pt x="5715000" y="2682879"/>
                </a:lnTo>
                <a:cubicBezTo>
                  <a:pt x="5715000" y="2717947"/>
                  <a:pt x="5686572" y="2746375"/>
                  <a:pt x="5651504" y="2746375"/>
                </a:cubicBezTo>
                <a:lnTo>
                  <a:pt x="63496" y="2746375"/>
                </a:lnTo>
                <a:cubicBezTo>
                  <a:pt x="28428" y="2746375"/>
                  <a:pt x="0" y="2717947"/>
                  <a:pt x="0" y="2682879"/>
                </a:cubicBezTo>
                <a:lnTo>
                  <a:pt x="0" y="63496"/>
                </a:lnTo>
                <a:cubicBezTo>
                  <a:pt x="0" y="28452"/>
                  <a:pt x="28452" y="0"/>
                  <a:pt x="63496" y="0"/>
                </a:cubicBezTo>
                <a:close/>
              </a:path>
            </a:pathLst>
          </a:custGeom>
          <a:gradFill rotWithShape="0">
            <a:gsLst>
              <a:gs pos="0">
                <a:srgbClr val="4a6c82">
                  <a:alpha val="20000"/>
                </a:srgbClr>
              </a:gs>
              <a:gs pos="100000">
                <a:srgbClr val="788a9c">
                  <a:alpha val="10000"/>
                </a:srgbClr>
              </a:gs>
            </a:gsLst>
            <a:lin ang="2700000"/>
          </a:gradFill>
          <a:ln w="25400">
            <a:solidFill>
              <a:srgbClr val="4a6c82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Google Shape;299;p5"/>
          <p:cNvSpPr/>
          <p:nvPr/>
        </p:nvSpPr>
        <p:spPr>
          <a:xfrm>
            <a:off x="6254640" y="112716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4a6c82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Google Shape;300;p5"/>
          <p:cNvSpPr/>
          <p:nvPr/>
        </p:nvSpPr>
        <p:spPr>
          <a:xfrm>
            <a:off x="6350040" y="1222200"/>
            <a:ext cx="189360" cy="189360"/>
          </a:xfrm>
          <a:custGeom>
            <a:avLst/>
            <a:gdLst>
              <a:gd name="textAreaLeft" fmla="*/ 0 w 189360"/>
              <a:gd name="textAreaRight" fmla="*/ 189720 w 189360"/>
              <a:gd name="textAreaTop" fmla="*/ 0 h 189360"/>
              <a:gd name="textAreaBottom" fmla="*/ 189720 h 189360"/>
            </a:gdLst>
            <a:ahLst/>
            <a:rect l="textAreaLeft" t="textAreaTop" r="textAreaRight" b="textAreaBottom"/>
            <a:pathLst>
              <a:path w="190500" h="190500">
                <a:moveTo>
                  <a:pt x="0" y="29766"/>
                </a:moveTo>
                <a:cubicBezTo>
                  <a:pt x="0" y="19906"/>
                  <a:pt x="8000" y="11906"/>
                  <a:pt x="17859" y="11906"/>
                </a:cubicBezTo>
                <a:lnTo>
                  <a:pt x="53578" y="11906"/>
                </a:lnTo>
                <a:cubicBezTo>
                  <a:pt x="63438" y="11906"/>
                  <a:pt x="71438" y="19906"/>
                  <a:pt x="71438" y="29766"/>
                </a:cubicBezTo>
                <a:lnTo>
                  <a:pt x="71438" y="35719"/>
                </a:lnTo>
                <a:lnTo>
                  <a:pt x="119063" y="35719"/>
                </a:lnTo>
                <a:lnTo>
                  <a:pt x="119063" y="29766"/>
                </a:lnTo>
                <a:cubicBezTo>
                  <a:pt x="119063" y="19906"/>
                  <a:pt x="127062" y="11906"/>
                  <a:pt x="136922" y="11906"/>
                </a:cubicBezTo>
                <a:lnTo>
                  <a:pt x="172641" y="11906"/>
                </a:lnTo>
                <a:cubicBezTo>
                  <a:pt x="182500" y="11906"/>
                  <a:pt x="190500" y="19906"/>
                  <a:pt x="190500" y="29766"/>
                </a:cubicBezTo>
                <a:lnTo>
                  <a:pt x="190500" y="65484"/>
                </a:lnTo>
                <a:cubicBezTo>
                  <a:pt x="190500" y="75344"/>
                  <a:pt x="182500" y="83344"/>
                  <a:pt x="172641" y="83344"/>
                </a:cubicBezTo>
                <a:lnTo>
                  <a:pt x="136922" y="83344"/>
                </a:lnTo>
                <a:cubicBezTo>
                  <a:pt x="127062" y="83344"/>
                  <a:pt x="119063" y="75344"/>
                  <a:pt x="119063" y="65484"/>
                </a:cubicBezTo>
                <a:lnTo>
                  <a:pt x="119063" y="59531"/>
                </a:lnTo>
                <a:lnTo>
                  <a:pt x="71438" y="59531"/>
                </a:lnTo>
                <a:lnTo>
                  <a:pt x="71438" y="65484"/>
                </a:lnTo>
                <a:cubicBezTo>
                  <a:pt x="71438" y="68200"/>
                  <a:pt x="70805" y="70805"/>
                  <a:pt x="69726" y="73112"/>
                </a:cubicBezTo>
                <a:lnTo>
                  <a:pt x="95250" y="107156"/>
                </a:lnTo>
                <a:lnTo>
                  <a:pt x="125016" y="107156"/>
                </a:lnTo>
                <a:cubicBezTo>
                  <a:pt x="134875" y="107156"/>
                  <a:pt x="142875" y="115156"/>
                  <a:pt x="142875" y="125016"/>
                </a:cubicBezTo>
                <a:lnTo>
                  <a:pt x="142875" y="160734"/>
                </a:lnTo>
                <a:cubicBezTo>
                  <a:pt x="142875" y="170594"/>
                  <a:pt x="134875" y="178594"/>
                  <a:pt x="125016" y="178594"/>
                </a:cubicBezTo>
                <a:lnTo>
                  <a:pt x="89297" y="178594"/>
                </a:lnTo>
                <a:cubicBezTo>
                  <a:pt x="79437" y="178594"/>
                  <a:pt x="71438" y="170594"/>
                  <a:pt x="71438" y="160734"/>
                </a:cubicBezTo>
                <a:lnTo>
                  <a:pt x="71438" y="125016"/>
                </a:lnTo>
                <a:cubicBezTo>
                  <a:pt x="71438" y="122300"/>
                  <a:pt x="72070" y="119695"/>
                  <a:pt x="73149" y="117388"/>
                </a:cubicBezTo>
                <a:lnTo>
                  <a:pt x="47625" y="83344"/>
                </a:lnTo>
                <a:lnTo>
                  <a:pt x="17859" y="83344"/>
                </a:lnTo>
                <a:cubicBezTo>
                  <a:pt x="8000" y="83344"/>
                  <a:pt x="0" y="75344"/>
                  <a:pt x="0" y="65484"/>
                </a:cubicBezTo>
                <a:lnTo>
                  <a:pt x="0" y="29766"/>
                </a:ln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Google Shape;301;p5"/>
          <p:cNvSpPr/>
          <p:nvPr/>
        </p:nvSpPr>
        <p:spPr>
          <a:xfrm>
            <a:off x="6730920" y="1127160"/>
            <a:ext cx="91188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e8e8"/>
                </a:solidFill>
                <a:latin typeface="Liter"/>
                <a:ea typeface="Liter"/>
              </a:rPr>
              <a:t>ResNet50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Google Shape;302;p5"/>
          <p:cNvSpPr/>
          <p:nvPr/>
        </p:nvSpPr>
        <p:spPr>
          <a:xfrm>
            <a:off x="6730920" y="1349280"/>
            <a:ext cx="126936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4a6c82"/>
                </a:solidFill>
                <a:latin typeface="Quattrocento Sans"/>
                <a:ea typeface="Quattrocento Sans"/>
              </a:rPr>
              <a:t>Transfer Learning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2" name="Google Shape;303;p5"/>
          <p:cNvSpPr/>
          <p:nvPr/>
        </p:nvSpPr>
        <p:spPr>
          <a:xfrm>
            <a:off x="6254640" y="1571760"/>
            <a:ext cx="557100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Deep network with </a:t>
            </a:r>
            <a:r>
              <a:rPr b="1" lang="en-US" sz="10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residual blocks and skip connections</a:t>
            </a: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mitigating vanishing gradients across 50 layers for complex abstract features.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Google Shape;304;p5"/>
          <p:cNvSpPr/>
          <p:nvPr/>
        </p:nvSpPr>
        <p:spPr>
          <a:xfrm>
            <a:off x="6254640" y="1984320"/>
            <a:ext cx="5507640" cy="1141920"/>
          </a:xfrm>
          <a:custGeom>
            <a:avLst/>
            <a:gdLst>
              <a:gd name="textAreaLeft" fmla="*/ 0 w 5507640"/>
              <a:gd name="textAreaRight" fmla="*/ 5508000 w 5507640"/>
              <a:gd name="textAreaTop" fmla="*/ 0 h 1141920"/>
              <a:gd name="textAreaBottom" fmla="*/ 1142280 h 1141920"/>
            </a:gdLst>
            <a:ahLst/>
            <a:rect l="textAreaLeft" t="textAreaTop" r="textAreaRight" b="textAreaBottom"/>
            <a:pathLst>
              <a:path w="5508625" h="1143000">
                <a:moveTo>
                  <a:pt x="63505" y="0"/>
                </a:moveTo>
                <a:lnTo>
                  <a:pt x="5445120" y="0"/>
                </a:lnTo>
                <a:cubicBezTo>
                  <a:pt x="5480193" y="0"/>
                  <a:pt x="5508625" y="28432"/>
                  <a:pt x="5508625" y="63505"/>
                </a:cubicBezTo>
                <a:lnTo>
                  <a:pt x="5508625" y="1079495"/>
                </a:lnTo>
                <a:cubicBezTo>
                  <a:pt x="5508625" y="1114568"/>
                  <a:pt x="5480193" y="1143000"/>
                  <a:pt x="5445120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Google Shape;305;p5"/>
          <p:cNvSpPr/>
          <p:nvPr/>
        </p:nvSpPr>
        <p:spPr>
          <a:xfrm>
            <a:off x="6350040" y="2079720"/>
            <a:ext cx="537264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4a6c82"/>
                </a:solidFill>
                <a:latin typeface="Quattrocento Sans"/>
                <a:ea typeface="Quattrocento Sans"/>
              </a:rPr>
              <a:t>Architecture Details: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Google Shape;306;p5"/>
          <p:cNvSpPr/>
          <p:nvPr/>
        </p:nvSpPr>
        <p:spPr>
          <a:xfrm>
            <a:off x="6372720" y="232560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6" name="Google Shape;307;p5"/>
          <p:cNvSpPr/>
          <p:nvPr/>
        </p:nvSpPr>
        <p:spPr>
          <a:xfrm>
            <a:off x="6532560" y="230184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50-layer deep architecture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Google Shape;308;p5"/>
          <p:cNvSpPr/>
          <p:nvPr/>
        </p:nvSpPr>
        <p:spPr>
          <a:xfrm>
            <a:off x="6372720" y="251604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Google Shape;309;p5"/>
          <p:cNvSpPr/>
          <p:nvPr/>
        </p:nvSpPr>
        <p:spPr>
          <a:xfrm>
            <a:off x="6532560" y="249228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Skip connections (residual blocks)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Google Shape;310;p5"/>
          <p:cNvSpPr/>
          <p:nvPr/>
        </p:nvSpPr>
        <p:spPr>
          <a:xfrm>
            <a:off x="6372720" y="270684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0" name="Google Shape;311;p5"/>
          <p:cNvSpPr/>
          <p:nvPr/>
        </p:nvSpPr>
        <p:spPr>
          <a:xfrm>
            <a:off x="6532560" y="268272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Pre-trained on ImageNet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Google Shape;312;p5"/>
          <p:cNvSpPr/>
          <p:nvPr/>
        </p:nvSpPr>
        <p:spPr>
          <a:xfrm>
            <a:off x="6372720" y="289728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2" name="Google Shape;313;p5"/>
          <p:cNvSpPr/>
          <p:nvPr/>
        </p:nvSpPr>
        <p:spPr>
          <a:xfrm>
            <a:off x="6532560" y="287352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Frozen base + custom classification head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Google Shape;314;p5"/>
          <p:cNvSpPr/>
          <p:nvPr/>
        </p:nvSpPr>
        <p:spPr>
          <a:xfrm>
            <a:off x="6254640" y="3191040"/>
            <a:ext cx="2721600" cy="475200"/>
          </a:xfrm>
          <a:custGeom>
            <a:avLst/>
            <a:gdLst>
              <a:gd name="textAreaLeft" fmla="*/ 0 w 2721600"/>
              <a:gd name="textAreaRight" fmla="*/ 2721960 w 2721600"/>
              <a:gd name="textAreaTop" fmla="*/ 0 h 475200"/>
              <a:gd name="textAreaBottom" fmla="*/ 475560 h 475200"/>
            </a:gdLst>
            <a:ahLst/>
            <a:rect l="textAreaLeft" t="textAreaTop" r="textAreaRight" b="textAreaBottom"/>
            <a:pathLst>
              <a:path w="2722563" h="476250">
                <a:moveTo>
                  <a:pt x="31752" y="0"/>
                </a:moveTo>
                <a:lnTo>
                  <a:pt x="2690811" y="0"/>
                </a:lnTo>
                <a:cubicBezTo>
                  <a:pt x="2708347" y="0"/>
                  <a:pt x="2722563" y="14216"/>
                  <a:pt x="2722563" y="31752"/>
                </a:cubicBezTo>
                <a:lnTo>
                  <a:pt x="2722563" y="444498"/>
                </a:lnTo>
                <a:cubicBezTo>
                  <a:pt x="2722563" y="462034"/>
                  <a:pt x="2708347" y="476250"/>
                  <a:pt x="269081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c82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4" name="Google Shape;315;p5"/>
          <p:cNvSpPr/>
          <p:nvPr/>
        </p:nvSpPr>
        <p:spPr>
          <a:xfrm>
            <a:off x="6278400" y="3254400"/>
            <a:ext cx="26737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4a6c82"/>
                </a:solidFill>
                <a:latin typeface="Quattrocento Sans"/>
                <a:ea typeface="Quattrocento Sans"/>
              </a:rPr>
              <a:t>High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5" name="Google Shape;316;p5"/>
          <p:cNvSpPr/>
          <p:nvPr/>
        </p:nvSpPr>
        <p:spPr>
          <a:xfrm>
            <a:off x="6294600" y="3476520"/>
            <a:ext cx="264204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Computational Load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Google Shape;317;p5"/>
          <p:cNvSpPr/>
          <p:nvPr/>
        </p:nvSpPr>
        <p:spPr>
          <a:xfrm>
            <a:off x="9040680" y="3191040"/>
            <a:ext cx="2721600" cy="475200"/>
          </a:xfrm>
          <a:custGeom>
            <a:avLst/>
            <a:gdLst>
              <a:gd name="textAreaLeft" fmla="*/ 0 w 2721600"/>
              <a:gd name="textAreaRight" fmla="*/ 2721960 w 2721600"/>
              <a:gd name="textAreaTop" fmla="*/ 0 h 475200"/>
              <a:gd name="textAreaBottom" fmla="*/ 475560 h 475200"/>
            </a:gdLst>
            <a:ahLst/>
            <a:rect l="textAreaLeft" t="textAreaTop" r="textAreaRight" b="textAreaBottom"/>
            <a:pathLst>
              <a:path w="2722563" h="476250">
                <a:moveTo>
                  <a:pt x="31752" y="0"/>
                </a:moveTo>
                <a:lnTo>
                  <a:pt x="2690811" y="0"/>
                </a:lnTo>
                <a:cubicBezTo>
                  <a:pt x="2708347" y="0"/>
                  <a:pt x="2722563" y="14216"/>
                  <a:pt x="2722563" y="31752"/>
                </a:cubicBezTo>
                <a:lnTo>
                  <a:pt x="2722563" y="444498"/>
                </a:lnTo>
                <a:cubicBezTo>
                  <a:pt x="2722563" y="462034"/>
                  <a:pt x="2708347" y="476250"/>
                  <a:pt x="269081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4a6c82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Google Shape;318;p5"/>
          <p:cNvSpPr/>
          <p:nvPr/>
        </p:nvSpPr>
        <p:spPr>
          <a:xfrm>
            <a:off x="9064800" y="3254400"/>
            <a:ext cx="26737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4a6c82"/>
                </a:solidFill>
                <a:latin typeface="Quattrocento Sans"/>
                <a:ea typeface="Quattrocento Sans"/>
              </a:rPr>
              <a:t>Multi-Class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8" name="Google Shape;319;p5"/>
          <p:cNvSpPr/>
          <p:nvPr/>
        </p:nvSpPr>
        <p:spPr>
          <a:xfrm>
            <a:off x="9080640" y="3476520"/>
            <a:ext cx="264204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Target Task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Google Shape;320;p5"/>
          <p:cNvSpPr/>
          <p:nvPr/>
        </p:nvSpPr>
        <p:spPr>
          <a:xfrm>
            <a:off x="228600" y="3881520"/>
            <a:ext cx="5810760" cy="2642040"/>
          </a:xfrm>
          <a:custGeom>
            <a:avLst/>
            <a:gdLst>
              <a:gd name="textAreaLeft" fmla="*/ 0 w 5810760"/>
              <a:gd name="textAreaRight" fmla="*/ 5811120 w 5810760"/>
              <a:gd name="textAreaTop" fmla="*/ 0 h 2642040"/>
              <a:gd name="textAreaBottom" fmla="*/ 2642400 h 2642040"/>
            </a:gdLst>
            <a:ahLst/>
            <a:rect l="textAreaLeft" t="textAreaTop" r="textAreaRight" b="textAreaBottom"/>
            <a:pathLst>
              <a:path w="5611813" h="2643188">
                <a:moveTo>
                  <a:pt x="62350" y="0"/>
                </a:moveTo>
                <a:lnTo>
                  <a:pt x="5549463" y="0"/>
                </a:lnTo>
                <a:cubicBezTo>
                  <a:pt x="5583898" y="0"/>
                  <a:pt x="5611813" y="27360"/>
                  <a:pt x="5611813" y="61110"/>
                </a:cubicBezTo>
                <a:lnTo>
                  <a:pt x="5611813" y="2582077"/>
                </a:lnTo>
                <a:cubicBezTo>
                  <a:pt x="5611812" y="2615827"/>
                  <a:pt x="5583898" y="2643188"/>
                  <a:pt x="5549463" y="2643188"/>
                </a:cubicBezTo>
                <a:lnTo>
                  <a:pt x="62350" y="2643188"/>
                </a:lnTo>
                <a:cubicBezTo>
                  <a:pt x="27915" y="2643188"/>
                  <a:pt x="0" y="2615827"/>
                  <a:pt x="0" y="2582077"/>
                </a:cubicBezTo>
                <a:lnTo>
                  <a:pt x="0" y="61110"/>
                </a:lnTo>
                <a:cubicBezTo>
                  <a:pt x="0" y="27383"/>
                  <a:pt x="27938" y="0"/>
                  <a:pt x="62350" y="0"/>
                </a:cubicBezTo>
                <a:close/>
              </a:path>
            </a:pathLst>
          </a:custGeom>
          <a:gradFill rotWithShape="0">
            <a:gsLst>
              <a:gs pos="0">
                <a:srgbClr val="788a9c">
                  <a:alpha val="20000"/>
                </a:srgbClr>
              </a:gs>
              <a:gs pos="100000">
                <a:srgbClr val="d4a26a">
                  <a:alpha val="10000"/>
                </a:srgbClr>
              </a:gs>
            </a:gsLst>
            <a:lin ang="2700000"/>
          </a:gradFill>
          <a:ln w="25400">
            <a:solidFill>
              <a:srgbClr val="788a9c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Google Shape;321;p5"/>
          <p:cNvSpPr/>
          <p:nvPr/>
        </p:nvSpPr>
        <p:spPr>
          <a:xfrm>
            <a:off x="428760" y="398448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788a9c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1" name="Google Shape;322;p5"/>
          <p:cNvSpPr/>
          <p:nvPr/>
        </p:nvSpPr>
        <p:spPr>
          <a:xfrm>
            <a:off x="547560" y="4079880"/>
            <a:ext cx="141840" cy="189360"/>
          </a:xfrm>
          <a:custGeom>
            <a:avLst/>
            <a:gdLst>
              <a:gd name="textAreaLeft" fmla="*/ 0 w 141840"/>
              <a:gd name="textAreaRight" fmla="*/ 142200 w 141840"/>
              <a:gd name="textAreaTop" fmla="*/ 0 h 189360"/>
              <a:gd name="textAreaBottom" fmla="*/ 189720 h 189360"/>
            </a:gdLst>
            <a:ahLst/>
            <a:rect l="textAreaLeft" t="textAreaTop" r="textAreaRight" b="textAreaBottom"/>
            <a:pathLst>
              <a:path w="142875" h="190500">
                <a:moveTo>
                  <a:pt x="5953" y="23812"/>
                </a:moveTo>
                <a:cubicBezTo>
                  <a:pt x="5953" y="10678"/>
                  <a:pt x="16632" y="0"/>
                  <a:pt x="29766" y="0"/>
                </a:cubicBezTo>
                <a:lnTo>
                  <a:pt x="113109" y="0"/>
                </a:lnTo>
                <a:cubicBezTo>
                  <a:pt x="126243" y="0"/>
                  <a:pt x="136922" y="10678"/>
                  <a:pt x="136922" y="23812"/>
                </a:cubicBezTo>
                <a:lnTo>
                  <a:pt x="136922" y="166688"/>
                </a:lnTo>
                <a:cubicBezTo>
                  <a:pt x="136922" y="179822"/>
                  <a:pt x="126243" y="190500"/>
                  <a:pt x="113109" y="190500"/>
                </a:cubicBezTo>
                <a:lnTo>
                  <a:pt x="29766" y="190500"/>
                </a:lnTo>
                <a:cubicBezTo>
                  <a:pt x="16632" y="190500"/>
                  <a:pt x="5953" y="179822"/>
                  <a:pt x="5953" y="166688"/>
                </a:cubicBezTo>
                <a:lnTo>
                  <a:pt x="5953" y="23812"/>
                </a:lnTo>
                <a:close/>
                <a:moveTo>
                  <a:pt x="29766" y="23812"/>
                </a:moveTo>
                <a:lnTo>
                  <a:pt x="29766" y="136922"/>
                </a:lnTo>
                <a:lnTo>
                  <a:pt x="113109" y="136922"/>
                </a:lnTo>
                <a:lnTo>
                  <a:pt x="113109" y="23812"/>
                </a:lnTo>
                <a:lnTo>
                  <a:pt x="29766" y="23812"/>
                </a:lnTo>
                <a:close/>
                <a:moveTo>
                  <a:pt x="71438" y="175617"/>
                </a:moveTo>
                <a:cubicBezTo>
                  <a:pt x="78023" y="175617"/>
                  <a:pt x="83344" y="170297"/>
                  <a:pt x="83344" y="163711"/>
                </a:cubicBezTo>
                <a:cubicBezTo>
                  <a:pt x="83344" y="157125"/>
                  <a:pt x="78023" y="151805"/>
                  <a:pt x="71438" y="151805"/>
                </a:cubicBezTo>
                <a:cubicBezTo>
                  <a:pt x="64852" y="151805"/>
                  <a:pt x="59531" y="157125"/>
                  <a:pt x="59531" y="163711"/>
                </a:cubicBezTo>
                <a:cubicBezTo>
                  <a:pt x="59531" y="170297"/>
                  <a:pt x="64852" y="175617"/>
                  <a:pt x="71438" y="175617"/>
                </a:cubicBez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Google Shape;323;p5"/>
          <p:cNvSpPr/>
          <p:nvPr/>
        </p:nvSpPr>
        <p:spPr>
          <a:xfrm>
            <a:off x="905040" y="3984480"/>
            <a:ext cx="20660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e8e8"/>
                </a:solidFill>
                <a:latin typeface="Liter"/>
                <a:ea typeface="Liter"/>
              </a:rPr>
              <a:t>MobileNetV3-Large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3" name="Google Shape;324;p5"/>
          <p:cNvSpPr/>
          <p:nvPr/>
        </p:nvSpPr>
        <p:spPr>
          <a:xfrm>
            <a:off x="905040" y="4206960"/>
            <a:ext cx="144360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Lightweight Deployment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Google Shape;325;p5"/>
          <p:cNvSpPr/>
          <p:nvPr/>
        </p:nvSpPr>
        <p:spPr>
          <a:xfrm>
            <a:off x="428760" y="4429080"/>
            <a:ext cx="557100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Utilizes </a:t>
            </a:r>
            <a:r>
              <a:rPr b="1" lang="en-US" sz="10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depthwise separable convolutions</a:t>
            </a: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with Global Average Pooling, Dense layer (256 nodes, ReLU), and Dropout (0.3).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5" name="Google Shape;326;p5"/>
          <p:cNvSpPr/>
          <p:nvPr/>
        </p:nvSpPr>
        <p:spPr>
          <a:xfrm>
            <a:off x="428760" y="4842000"/>
            <a:ext cx="5507640" cy="1141920"/>
          </a:xfrm>
          <a:custGeom>
            <a:avLst/>
            <a:gdLst>
              <a:gd name="textAreaLeft" fmla="*/ 0 w 5507640"/>
              <a:gd name="textAreaRight" fmla="*/ 5508000 w 5507640"/>
              <a:gd name="textAreaTop" fmla="*/ 0 h 1141920"/>
              <a:gd name="textAreaBottom" fmla="*/ 1142280 h 1141920"/>
            </a:gdLst>
            <a:ahLst/>
            <a:rect l="textAreaLeft" t="textAreaTop" r="textAreaRight" b="textAreaBottom"/>
            <a:pathLst>
              <a:path w="5508625" h="1143000">
                <a:moveTo>
                  <a:pt x="63505" y="0"/>
                </a:moveTo>
                <a:lnTo>
                  <a:pt x="5445120" y="0"/>
                </a:lnTo>
                <a:cubicBezTo>
                  <a:pt x="5480193" y="0"/>
                  <a:pt x="5508625" y="28432"/>
                  <a:pt x="5508625" y="63505"/>
                </a:cubicBezTo>
                <a:lnTo>
                  <a:pt x="5508625" y="1079495"/>
                </a:lnTo>
                <a:cubicBezTo>
                  <a:pt x="5508625" y="1114568"/>
                  <a:pt x="5480193" y="1143000"/>
                  <a:pt x="5445120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6" name="Google Shape;327;p5"/>
          <p:cNvSpPr/>
          <p:nvPr/>
        </p:nvSpPr>
        <p:spPr>
          <a:xfrm>
            <a:off x="523800" y="4937040"/>
            <a:ext cx="537264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Architecture Details: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Google Shape;328;p5"/>
          <p:cNvSpPr/>
          <p:nvPr/>
        </p:nvSpPr>
        <p:spPr>
          <a:xfrm>
            <a:off x="546840" y="518328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8" name="Google Shape;329;p5"/>
          <p:cNvSpPr/>
          <p:nvPr/>
        </p:nvSpPr>
        <p:spPr>
          <a:xfrm>
            <a:off x="706320" y="515952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Depthwise separable convolutions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Google Shape;330;p5"/>
          <p:cNvSpPr/>
          <p:nvPr/>
        </p:nvSpPr>
        <p:spPr>
          <a:xfrm>
            <a:off x="546840" y="537372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0" name="Google Shape;331;p5"/>
          <p:cNvSpPr/>
          <p:nvPr/>
        </p:nvSpPr>
        <p:spPr>
          <a:xfrm>
            <a:off x="706320" y="534996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Global Average Pooling layer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Google Shape;332;p5"/>
          <p:cNvSpPr/>
          <p:nvPr/>
        </p:nvSpPr>
        <p:spPr>
          <a:xfrm>
            <a:off x="546840" y="556416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2" name="Google Shape;333;p5"/>
          <p:cNvSpPr/>
          <p:nvPr/>
        </p:nvSpPr>
        <p:spPr>
          <a:xfrm>
            <a:off x="706320" y="554040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Dense layer (256 nodes, ReLU)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Google Shape;334;p5"/>
          <p:cNvSpPr/>
          <p:nvPr/>
        </p:nvSpPr>
        <p:spPr>
          <a:xfrm>
            <a:off x="546840" y="575460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4" name="Google Shape;335;p5"/>
          <p:cNvSpPr/>
          <p:nvPr/>
        </p:nvSpPr>
        <p:spPr>
          <a:xfrm>
            <a:off x="706320" y="573084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Optimized for mobile deployment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Google Shape;336;p5"/>
          <p:cNvSpPr/>
          <p:nvPr/>
        </p:nvSpPr>
        <p:spPr>
          <a:xfrm>
            <a:off x="428760" y="6048360"/>
            <a:ext cx="2721600" cy="475200"/>
          </a:xfrm>
          <a:custGeom>
            <a:avLst/>
            <a:gdLst>
              <a:gd name="textAreaLeft" fmla="*/ 0 w 2721600"/>
              <a:gd name="textAreaRight" fmla="*/ 2721960 w 2721600"/>
              <a:gd name="textAreaTop" fmla="*/ 0 h 475200"/>
              <a:gd name="textAreaBottom" fmla="*/ 475560 h 475200"/>
            </a:gdLst>
            <a:ahLst/>
            <a:rect l="textAreaLeft" t="textAreaTop" r="textAreaRight" b="textAreaBottom"/>
            <a:pathLst>
              <a:path w="2722563" h="476250">
                <a:moveTo>
                  <a:pt x="31752" y="0"/>
                </a:moveTo>
                <a:lnTo>
                  <a:pt x="2690811" y="0"/>
                </a:lnTo>
                <a:cubicBezTo>
                  <a:pt x="2708347" y="0"/>
                  <a:pt x="2722563" y="14216"/>
                  <a:pt x="2722563" y="31752"/>
                </a:cubicBezTo>
                <a:lnTo>
                  <a:pt x="2722563" y="444498"/>
                </a:lnTo>
                <a:cubicBezTo>
                  <a:pt x="2722563" y="462034"/>
                  <a:pt x="2708347" y="476250"/>
                  <a:pt x="269081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788a9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6" name="Google Shape;337;p5"/>
          <p:cNvSpPr/>
          <p:nvPr/>
        </p:nvSpPr>
        <p:spPr>
          <a:xfrm>
            <a:off x="452520" y="6111720"/>
            <a:ext cx="26737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Very Low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7" name="Google Shape;338;p5"/>
          <p:cNvSpPr/>
          <p:nvPr/>
        </p:nvSpPr>
        <p:spPr>
          <a:xfrm>
            <a:off x="468360" y="6334200"/>
            <a:ext cx="264204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Computational Load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Google Shape;339;p5"/>
          <p:cNvSpPr/>
          <p:nvPr/>
        </p:nvSpPr>
        <p:spPr>
          <a:xfrm>
            <a:off x="3214800" y="6048360"/>
            <a:ext cx="2721600" cy="475200"/>
          </a:xfrm>
          <a:custGeom>
            <a:avLst/>
            <a:gdLst>
              <a:gd name="textAreaLeft" fmla="*/ 0 w 2721600"/>
              <a:gd name="textAreaRight" fmla="*/ 2721960 w 2721600"/>
              <a:gd name="textAreaTop" fmla="*/ 0 h 475200"/>
              <a:gd name="textAreaBottom" fmla="*/ 475560 h 475200"/>
            </a:gdLst>
            <a:ahLst/>
            <a:rect l="textAreaLeft" t="textAreaTop" r="textAreaRight" b="textAreaBottom"/>
            <a:pathLst>
              <a:path w="2722563" h="476250">
                <a:moveTo>
                  <a:pt x="31752" y="0"/>
                </a:moveTo>
                <a:lnTo>
                  <a:pt x="2690811" y="0"/>
                </a:lnTo>
                <a:cubicBezTo>
                  <a:pt x="2708347" y="0"/>
                  <a:pt x="2722563" y="14216"/>
                  <a:pt x="2722563" y="31752"/>
                </a:cubicBezTo>
                <a:lnTo>
                  <a:pt x="2722563" y="444498"/>
                </a:lnTo>
                <a:cubicBezTo>
                  <a:pt x="2722563" y="462034"/>
                  <a:pt x="2708347" y="476250"/>
                  <a:pt x="269081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788a9c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9" name="Google Shape;340;p5"/>
          <p:cNvSpPr/>
          <p:nvPr/>
        </p:nvSpPr>
        <p:spPr>
          <a:xfrm>
            <a:off x="3238560" y="6111720"/>
            <a:ext cx="26737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Binary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0" name="Google Shape;341;p5"/>
          <p:cNvSpPr/>
          <p:nvPr/>
        </p:nvSpPr>
        <p:spPr>
          <a:xfrm>
            <a:off x="3254400" y="6334200"/>
            <a:ext cx="264204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Target Task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1" name="Google Shape;342;p5"/>
          <p:cNvSpPr/>
          <p:nvPr/>
        </p:nvSpPr>
        <p:spPr>
          <a:xfrm>
            <a:off x="6151680" y="3881520"/>
            <a:ext cx="5713920" cy="2642040"/>
          </a:xfrm>
          <a:custGeom>
            <a:avLst/>
            <a:gdLst>
              <a:gd name="textAreaLeft" fmla="*/ 0 w 5713920"/>
              <a:gd name="textAreaRight" fmla="*/ 5714280 w 5713920"/>
              <a:gd name="textAreaTop" fmla="*/ 0 h 2642040"/>
              <a:gd name="textAreaBottom" fmla="*/ 2642400 h 2642040"/>
            </a:gdLst>
            <a:ahLst/>
            <a:rect l="textAreaLeft" t="textAreaTop" r="textAreaRight" b="textAreaBottom"/>
            <a:pathLst>
              <a:path w="5715000" h="2643188">
                <a:moveTo>
                  <a:pt x="63496" y="0"/>
                </a:moveTo>
                <a:lnTo>
                  <a:pt x="5651504" y="0"/>
                </a:lnTo>
                <a:cubicBezTo>
                  <a:pt x="5686572" y="0"/>
                  <a:pt x="5715000" y="27360"/>
                  <a:pt x="5715000" y="61110"/>
                </a:cubicBezTo>
                <a:lnTo>
                  <a:pt x="5715000" y="2582077"/>
                </a:lnTo>
                <a:cubicBezTo>
                  <a:pt x="5715000" y="2615827"/>
                  <a:pt x="5686572" y="2643188"/>
                  <a:pt x="5651504" y="2643188"/>
                </a:cubicBezTo>
                <a:lnTo>
                  <a:pt x="63496" y="2643188"/>
                </a:lnTo>
                <a:cubicBezTo>
                  <a:pt x="28428" y="2643188"/>
                  <a:pt x="0" y="2615827"/>
                  <a:pt x="0" y="2582077"/>
                </a:cubicBezTo>
                <a:lnTo>
                  <a:pt x="0" y="61110"/>
                </a:lnTo>
                <a:cubicBezTo>
                  <a:pt x="0" y="27383"/>
                  <a:pt x="28452" y="0"/>
                  <a:pt x="63496" y="0"/>
                </a:cubicBezTo>
                <a:close/>
              </a:path>
            </a:pathLst>
          </a:custGeom>
          <a:gradFill rotWithShape="0">
            <a:gsLst>
              <a:gs pos="0">
                <a:srgbClr val="d4a26a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2700000"/>
          </a:gradFill>
          <a:ln w="25400">
            <a:solidFill>
              <a:srgbClr val="d4a26a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2" name="Google Shape;343;p5"/>
          <p:cNvSpPr/>
          <p:nvPr/>
        </p:nvSpPr>
        <p:spPr>
          <a:xfrm>
            <a:off x="6254640" y="3984480"/>
            <a:ext cx="379800" cy="379800"/>
          </a:xfrm>
          <a:custGeom>
            <a:avLst/>
            <a:gdLst>
              <a:gd name="textAreaLeft" fmla="*/ 0 w 379800"/>
              <a:gd name="textAreaRight" fmla="*/ 380160 w 379800"/>
              <a:gd name="textAreaTop" fmla="*/ 0 h 379800"/>
              <a:gd name="textAreaBottom" fmla="*/ 380160 h 379800"/>
            </a:gdLst>
            <a:ahLst/>
            <a:rect l="textAreaLeft" t="textAreaTop" r="textAreaRight" b="textAreaBottom"/>
            <a:pathLst>
              <a:path w="381000" h="381000">
                <a:moveTo>
                  <a:pt x="63501" y="0"/>
                </a:moveTo>
                <a:lnTo>
                  <a:pt x="317499" y="0"/>
                </a:lnTo>
                <a:cubicBezTo>
                  <a:pt x="352546" y="0"/>
                  <a:pt x="381000" y="28454"/>
                  <a:pt x="381000" y="63501"/>
                </a:cubicBezTo>
                <a:lnTo>
                  <a:pt x="381000" y="317499"/>
                </a:lnTo>
                <a:cubicBezTo>
                  <a:pt x="381000" y="352546"/>
                  <a:pt x="352546" y="381000"/>
                  <a:pt x="317499" y="381000"/>
                </a:cubicBezTo>
                <a:lnTo>
                  <a:pt x="63501" y="381000"/>
                </a:lnTo>
                <a:cubicBezTo>
                  <a:pt x="28454" y="381000"/>
                  <a:pt x="0" y="352546"/>
                  <a:pt x="0" y="317499"/>
                </a:cubicBezTo>
                <a:lnTo>
                  <a:pt x="0" y="63501"/>
                </a:lnTo>
                <a:cubicBezTo>
                  <a:pt x="0" y="28454"/>
                  <a:pt x="28454" y="0"/>
                  <a:pt x="63501" y="0"/>
                </a:cubicBezTo>
                <a:close/>
              </a:path>
            </a:pathLst>
          </a:custGeom>
          <a:solidFill>
            <a:srgbClr val="d4a26a">
              <a:alpha val="2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3" name="Google Shape;344;p5"/>
          <p:cNvSpPr/>
          <p:nvPr/>
        </p:nvSpPr>
        <p:spPr>
          <a:xfrm>
            <a:off x="6350040" y="4079880"/>
            <a:ext cx="189360" cy="189360"/>
          </a:xfrm>
          <a:custGeom>
            <a:avLst/>
            <a:gdLst>
              <a:gd name="textAreaLeft" fmla="*/ 0 w 189360"/>
              <a:gd name="textAreaRight" fmla="*/ 189720 w 189360"/>
              <a:gd name="textAreaTop" fmla="*/ 0 h 189360"/>
              <a:gd name="textAreaBottom" fmla="*/ 189720 h 189360"/>
            </a:gdLst>
            <a:ahLst/>
            <a:rect l="textAreaLeft" t="textAreaTop" r="textAreaRight" b="textAreaBottom"/>
            <a:pathLst>
              <a:path w="190500" h="190500">
                <a:moveTo>
                  <a:pt x="23812" y="23812"/>
                </a:moveTo>
                <a:cubicBezTo>
                  <a:pt x="23812" y="17227"/>
                  <a:pt x="18492" y="11906"/>
                  <a:pt x="11906" y="11906"/>
                </a:cubicBezTo>
                <a:cubicBezTo>
                  <a:pt x="5321" y="11906"/>
                  <a:pt x="0" y="17227"/>
                  <a:pt x="0" y="23812"/>
                </a:cubicBezTo>
                <a:lnTo>
                  <a:pt x="0" y="148828"/>
                </a:lnTo>
                <a:cubicBezTo>
                  <a:pt x="0" y="165274"/>
                  <a:pt x="13320" y="178594"/>
                  <a:pt x="29766" y="178594"/>
                </a:cubicBezTo>
                <a:lnTo>
                  <a:pt x="178594" y="178594"/>
                </a:lnTo>
                <a:cubicBezTo>
                  <a:pt x="185179" y="178594"/>
                  <a:pt x="190500" y="173273"/>
                  <a:pt x="190500" y="166688"/>
                </a:cubicBezTo>
                <a:cubicBezTo>
                  <a:pt x="190500" y="160102"/>
                  <a:pt x="185179" y="154781"/>
                  <a:pt x="178594" y="154781"/>
                </a:cubicBezTo>
                <a:lnTo>
                  <a:pt x="29766" y="154781"/>
                </a:lnTo>
                <a:cubicBezTo>
                  <a:pt x="26491" y="154781"/>
                  <a:pt x="23812" y="152102"/>
                  <a:pt x="23812" y="148828"/>
                </a:cubicBezTo>
                <a:lnTo>
                  <a:pt x="23812" y="23812"/>
                </a:lnTo>
                <a:close/>
                <a:moveTo>
                  <a:pt x="175096" y="56034"/>
                </a:moveTo>
                <a:cubicBezTo>
                  <a:pt x="179747" y="51383"/>
                  <a:pt x="179747" y="43830"/>
                  <a:pt x="175096" y="39179"/>
                </a:cubicBezTo>
                <a:cubicBezTo>
                  <a:pt x="170445" y="34528"/>
                  <a:pt x="162892" y="34528"/>
                  <a:pt x="158242" y="39179"/>
                </a:cubicBezTo>
                <a:lnTo>
                  <a:pt x="119063" y="78395"/>
                </a:lnTo>
                <a:lnTo>
                  <a:pt x="97706" y="57076"/>
                </a:lnTo>
                <a:cubicBezTo>
                  <a:pt x="93055" y="52425"/>
                  <a:pt x="85502" y="52425"/>
                  <a:pt x="80851" y="57076"/>
                </a:cubicBezTo>
                <a:lnTo>
                  <a:pt x="45132" y="92794"/>
                </a:lnTo>
                <a:cubicBezTo>
                  <a:pt x="40481" y="97445"/>
                  <a:pt x="40481" y="104998"/>
                  <a:pt x="45132" y="109649"/>
                </a:cubicBezTo>
                <a:cubicBezTo>
                  <a:pt x="49783" y="114300"/>
                  <a:pt x="57336" y="114300"/>
                  <a:pt x="61987" y="109649"/>
                </a:cubicBezTo>
                <a:lnTo>
                  <a:pt x="89297" y="82339"/>
                </a:lnTo>
                <a:lnTo>
                  <a:pt x="110654" y="103696"/>
                </a:lnTo>
                <a:cubicBezTo>
                  <a:pt x="115305" y="108347"/>
                  <a:pt x="122858" y="108347"/>
                  <a:pt x="127508" y="103696"/>
                </a:cubicBezTo>
                <a:lnTo>
                  <a:pt x="175133" y="56071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4" name="Google Shape;345;p5"/>
          <p:cNvSpPr/>
          <p:nvPr/>
        </p:nvSpPr>
        <p:spPr>
          <a:xfrm>
            <a:off x="6730920" y="3984480"/>
            <a:ext cx="128484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e8e8e8"/>
                </a:solidFill>
                <a:latin typeface="Liter"/>
                <a:ea typeface="Liter"/>
              </a:rPr>
              <a:t>EfficientNetV2-S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Google Shape;346;p5"/>
          <p:cNvSpPr/>
          <p:nvPr/>
        </p:nvSpPr>
        <p:spPr>
          <a:xfrm>
            <a:off x="6730920" y="4206960"/>
            <a:ext cx="126108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State-of-the-Art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6" name="Google Shape;347;p5"/>
          <p:cNvSpPr/>
          <p:nvPr/>
        </p:nvSpPr>
        <p:spPr>
          <a:xfrm>
            <a:off x="6254640" y="4429080"/>
            <a:ext cx="5571000" cy="348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10000"/>
              </a:lnSpc>
              <a:tabLst>
                <a:tab algn="l" pos="0"/>
              </a:tabLst>
            </a:pP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Uses </a:t>
            </a:r>
            <a:r>
              <a:rPr b="1" lang="en-US" sz="100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compound scaling and Fused-MBConv layers</a:t>
            </a:r>
            <a:r>
              <a:rPr b="0" lang="en-US" sz="100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optimizing training speed and parameter efficiency for high-resolution data.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7" name="Google Shape;348;p5"/>
          <p:cNvSpPr/>
          <p:nvPr/>
        </p:nvSpPr>
        <p:spPr>
          <a:xfrm>
            <a:off x="6254640" y="4842000"/>
            <a:ext cx="5507640" cy="1141920"/>
          </a:xfrm>
          <a:custGeom>
            <a:avLst/>
            <a:gdLst>
              <a:gd name="textAreaLeft" fmla="*/ 0 w 5507640"/>
              <a:gd name="textAreaRight" fmla="*/ 5508000 w 5507640"/>
              <a:gd name="textAreaTop" fmla="*/ 0 h 1141920"/>
              <a:gd name="textAreaBottom" fmla="*/ 1142280 h 1141920"/>
            </a:gdLst>
            <a:ahLst/>
            <a:rect l="textAreaLeft" t="textAreaTop" r="textAreaRight" b="textAreaBottom"/>
            <a:pathLst>
              <a:path w="5508625" h="1143000">
                <a:moveTo>
                  <a:pt x="63505" y="0"/>
                </a:moveTo>
                <a:lnTo>
                  <a:pt x="5445120" y="0"/>
                </a:lnTo>
                <a:cubicBezTo>
                  <a:pt x="5480193" y="0"/>
                  <a:pt x="5508625" y="28432"/>
                  <a:pt x="5508625" y="63505"/>
                </a:cubicBezTo>
                <a:lnTo>
                  <a:pt x="5508625" y="1079495"/>
                </a:lnTo>
                <a:cubicBezTo>
                  <a:pt x="5508625" y="1114568"/>
                  <a:pt x="5480193" y="1143000"/>
                  <a:pt x="5445120" y="1143000"/>
                </a:cubicBezTo>
                <a:lnTo>
                  <a:pt x="63505" y="1143000"/>
                </a:lnTo>
                <a:cubicBezTo>
                  <a:pt x="28432" y="1143000"/>
                  <a:pt x="0" y="1114568"/>
                  <a:pt x="0" y="1079495"/>
                </a:cubicBezTo>
                <a:lnTo>
                  <a:pt x="0" y="63505"/>
                </a:lnTo>
                <a:cubicBezTo>
                  <a:pt x="0" y="28456"/>
                  <a:pt x="28456" y="0"/>
                  <a:pt x="63505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8" name="Google Shape;349;p5"/>
          <p:cNvSpPr/>
          <p:nvPr/>
        </p:nvSpPr>
        <p:spPr>
          <a:xfrm>
            <a:off x="6350040" y="4937040"/>
            <a:ext cx="537264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88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Architecture Details: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9" name="Google Shape;350;p5"/>
          <p:cNvSpPr/>
          <p:nvPr/>
        </p:nvSpPr>
        <p:spPr>
          <a:xfrm>
            <a:off x="6372720" y="518328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0" name="Google Shape;351;p5"/>
          <p:cNvSpPr/>
          <p:nvPr/>
        </p:nvSpPr>
        <p:spPr>
          <a:xfrm>
            <a:off x="6532560" y="515952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Compound scaling method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Google Shape;352;p5"/>
          <p:cNvSpPr/>
          <p:nvPr/>
        </p:nvSpPr>
        <p:spPr>
          <a:xfrm>
            <a:off x="6372720" y="537372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2" name="Google Shape;353;p5"/>
          <p:cNvSpPr/>
          <p:nvPr/>
        </p:nvSpPr>
        <p:spPr>
          <a:xfrm>
            <a:off x="6532560" y="534996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Fused-MBConv layers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3" name="Google Shape;354;p5"/>
          <p:cNvSpPr/>
          <p:nvPr/>
        </p:nvSpPr>
        <p:spPr>
          <a:xfrm>
            <a:off x="6372720" y="556416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4" name="Google Shape;355;p5"/>
          <p:cNvSpPr/>
          <p:nvPr/>
        </p:nvSpPr>
        <p:spPr>
          <a:xfrm>
            <a:off x="6532560" y="554040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Class-weighted loss function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5" name="Google Shape;356;p5"/>
          <p:cNvSpPr/>
          <p:nvPr/>
        </p:nvSpPr>
        <p:spPr>
          <a:xfrm>
            <a:off x="6372720" y="5754600"/>
            <a:ext cx="96120" cy="110160"/>
          </a:xfrm>
          <a:custGeom>
            <a:avLst/>
            <a:gdLst>
              <a:gd name="textAreaLeft" fmla="*/ 0 w 96120"/>
              <a:gd name="textAreaRight" fmla="*/ 96480 w 96120"/>
              <a:gd name="textAreaTop" fmla="*/ 0 h 110160"/>
              <a:gd name="textAreaBottom" fmla="*/ 110520 h 110160"/>
            </a:gdLst>
            <a:ahLst/>
            <a:rect l="textAreaLeft" t="textAreaTop" r="textAreaRight" b="textAreaBottom"/>
            <a:pathLst>
              <a:path w="97234" h="111125">
                <a:moveTo>
                  <a:pt x="94369" y="15215"/>
                </a:moveTo>
                <a:cubicBezTo>
                  <a:pt x="97473" y="17472"/>
                  <a:pt x="98168" y="21813"/>
                  <a:pt x="95910" y="24916"/>
                </a:cubicBezTo>
                <a:lnTo>
                  <a:pt x="40348" y="101315"/>
                </a:lnTo>
                <a:cubicBezTo>
                  <a:pt x="39154" y="102964"/>
                  <a:pt x="37309" y="103984"/>
                  <a:pt x="35269" y="104158"/>
                </a:cubicBezTo>
                <a:cubicBezTo>
                  <a:pt x="33229" y="104332"/>
                  <a:pt x="31254" y="103572"/>
                  <a:pt x="29821" y="102140"/>
                </a:cubicBezTo>
                <a:lnTo>
                  <a:pt x="2040" y="74358"/>
                </a:lnTo>
                <a:cubicBezTo>
                  <a:pt x="-673" y="71645"/>
                  <a:pt x="-673" y="67239"/>
                  <a:pt x="2040" y="64526"/>
                </a:cubicBezTo>
                <a:cubicBezTo>
                  <a:pt x="4753" y="61813"/>
                  <a:pt x="9159" y="61813"/>
                  <a:pt x="11872" y="64526"/>
                </a:cubicBezTo>
                <a:lnTo>
                  <a:pt x="33902" y="86556"/>
                </a:lnTo>
                <a:lnTo>
                  <a:pt x="84689" y="16734"/>
                </a:lnTo>
                <a:cubicBezTo>
                  <a:pt x="86947" y="13630"/>
                  <a:pt x="91287" y="12936"/>
                  <a:pt x="94391" y="15193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6" name="Google Shape;357;p5"/>
          <p:cNvSpPr/>
          <p:nvPr/>
        </p:nvSpPr>
        <p:spPr>
          <a:xfrm>
            <a:off x="6532560" y="5730840"/>
            <a:ext cx="5190120" cy="157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0" lang="en-US" sz="88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Optimized training speed</a:t>
            </a:r>
            <a:endParaRPr b="0" lang="en-US" sz="88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7" name="Google Shape;358;p5"/>
          <p:cNvSpPr/>
          <p:nvPr/>
        </p:nvSpPr>
        <p:spPr>
          <a:xfrm>
            <a:off x="6254640" y="6048360"/>
            <a:ext cx="2721600" cy="475200"/>
          </a:xfrm>
          <a:custGeom>
            <a:avLst/>
            <a:gdLst>
              <a:gd name="textAreaLeft" fmla="*/ 0 w 2721600"/>
              <a:gd name="textAreaRight" fmla="*/ 2721960 w 2721600"/>
              <a:gd name="textAreaTop" fmla="*/ 0 h 475200"/>
              <a:gd name="textAreaBottom" fmla="*/ 475560 h 475200"/>
            </a:gdLst>
            <a:ahLst/>
            <a:rect l="textAreaLeft" t="textAreaTop" r="textAreaRight" b="textAreaBottom"/>
            <a:pathLst>
              <a:path w="2722563" h="476250">
                <a:moveTo>
                  <a:pt x="31752" y="0"/>
                </a:moveTo>
                <a:lnTo>
                  <a:pt x="2690811" y="0"/>
                </a:lnTo>
                <a:cubicBezTo>
                  <a:pt x="2708347" y="0"/>
                  <a:pt x="2722563" y="14216"/>
                  <a:pt x="2722563" y="31752"/>
                </a:cubicBezTo>
                <a:lnTo>
                  <a:pt x="2722563" y="444498"/>
                </a:lnTo>
                <a:cubicBezTo>
                  <a:pt x="2722563" y="462034"/>
                  <a:pt x="2708347" y="476250"/>
                  <a:pt x="269081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d4a26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8" name="Google Shape;359;p5"/>
          <p:cNvSpPr/>
          <p:nvPr/>
        </p:nvSpPr>
        <p:spPr>
          <a:xfrm>
            <a:off x="6278400" y="6111720"/>
            <a:ext cx="26737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Medium-High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9" name="Google Shape;360;p5"/>
          <p:cNvSpPr/>
          <p:nvPr/>
        </p:nvSpPr>
        <p:spPr>
          <a:xfrm>
            <a:off x="6294600" y="6334200"/>
            <a:ext cx="264204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Computational Load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0" name="Google Shape;361;p5"/>
          <p:cNvSpPr/>
          <p:nvPr/>
        </p:nvSpPr>
        <p:spPr>
          <a:xfrm>
            <a:off x="9040680" y="6048360"/>
            <a:ext cx="2721600" cy="475200"/>
          </a:xfrm>
          <a:custGeom>
            <a:avLst/>
            <a:gdLst>
              <a:gd name="textAreaLeft" fmla="*/ 0 w 2721600"/>
              <a:gd name="textAreaRight" fmla="*/ 2721960 w 2721600"/>
              <a:gd name="textAreaTop" fmla="*/ 0 h 475200"/>
              <a:gd name="textAreaBottom" fmla="*/ 475560 h 475200"/>
            </a:gdLst>
            <a:ahLst/>
            <a:rect l="textAreaLeft" t="textAreaTop" r="textAreaRight" b="textAreaBottom"/>
            <a:pathLst>
              <a:path w="2722563" h="476250">
                <a:moveTo>
                  <a:pt x="31752" y="0"/>
                </a:moveTo>
                <a:lnTo>
                  <a:pt x="2690811" y="0"/>
                </a:lnTo>
                <a:cubicBezTo>
                  <a:pt x="2708347" y="0"/>
                  <a:pt x="2722563" y="14216"/>
                  <a:pt x="2722563" y="31752"/>
                </a:cubicBezTo>
                <a:lnTo>
                  <a:pt x="2722563" y="444498"/>
                </a:lnTo>
                <a:cubicBezTo>
                  <a:pt x="2722563" y="462034"/>
                  <a:pt x="2708347" y="476250"/>
                  <a:pt x="2690811" y="476250"/>
                </a:cubicBezTo>
                <a:lnTo>
                  <a:pt x="31752" y="476250"/>
                </a:lnTo>
                <a:cubicBezTo>
                  <a:pt x="14216" y="476250"/>
                  <a:pt x="0" y="462034"/>
                  <a:pt x="0" y="444498"/>
                </a:cubicBezTo>
                <a:lnTo>
                  <a:pt x="0" y="31752"/>
                </a:lnTo>
                <a:cubicBezTo>
                  <a:pt x="0" y="14216"/>
                  <a:pt x="14216" y="0"/>
                  <a:pt x="31752" y="0"/>
                </a:cubicBezTo>
                <a:close/>
              </a:path>
            </a:pathLst>
          </a:custGeom>
          <a:solidFill>
            <a:srgbClr val="d4a26a">
              <a:alpha val="1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1" name="Google Shape;362;p5"/>
          <p:cNvSpPr/>
          <p:nvPr/>
        </p:nvSpPr>
        <p:spPr>
          <a:xfrm>
            <a:off x="9064800" y="6111720"/>
            <a:ext cx="2673720" cy="221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r>
              <a:rPr b="1" lang="en-US" sz="125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Multi-Class</a:t>
            </a:r>
            <a:endParaRPr b="0" lang="en-US" sz="12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2" name="Google Shape;363;p5"/>
          <p:cNvSpPr/>
          <p:nvPr/>
        </p:nvSpPr>
        <p:spPr>
          <a:xfrm>
            <a:off x="9080640" y="6334200"/>
            <a:ext cx="2642040" cy="12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10000"/>
              </a:lnSpc>
              <a:tabLst>
                <a:tab algn="l" pos="0"/>
              </a:tabLst>
            </a:pPr>
            <a:r>
              <a:rPr b="0" lang="en-US" sz="7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Target Task</a:t>
            </a:r>
            <a:endParaRPr b="0" lang="en-US" sz="75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369;p6"/>
          <p:cNvSpPr/>
          <p:nvPr/>
        </p:nvSpPr>
        <p:spPr>
          <a:xfrm>
            <a:off x="363240" y="363240"/>
            <a:ext cx="115369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Comparative Analysis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4" name="Google Shape;370;p6"/>
          <p:cNvSpPr/>
          <p:nvPr/>
        </p:nvSpPr>
        <p:spPr>
          <a:xfrm>
            <a:off x="363240" y="654120"/>
            <a:ext cx="116276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-US" sz="2570" spc="-1" strike="noStrike">
                <a:solidFill>
                  <a:srgbClr val="e8e8e8"/>
                </a:solidFill>
                <a:latin typeface="Liter"/>
                <a:ea typeface="Liter"/>
              </a:rPr>
              <a:t>Results: Architectural Performance Comparison</a:t>
            </a:r>
            <a:endParaRPr b="0" lang="en-US" sz="2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5" name="Google Shape;371;p6"/>
          <p:cNvSpPr/>
          <p:nvPr/>
        </p:nvSpPr>
        <p:spPr>
          <a:xfrm>
            <a:off x="363240" y="1126440"/>
            <a:ext cx="871200" cy="35280"/>
          </a:xfrm>
          <a:custGeom>
            <a:avLst/>
            <a:gdLst>
              <a:gd name="textAreaLeft" fmla="*/ 0 w 871200"/>
              <a:gd name="textAreaRight" fmla="*/ 871560 w 871200"/>
              <a:gd name="textAreaTop" fmla="*/ 0 h 35280"/>
              <a:gd name="textAreaBottom" fmla="*/ 35640 h 35280"/>
            </a:gdLst>
            <a:ahLst/>
            <a:rect l="textAreaLeft" t="textAreaTop" r="textAreaRight" b="textAreaBottom"/>
            <a:pathLst>
              <a:path w="872155" h="36340">
                <a:moveTo>
                  <a:pt x="0" y="0"/>
                </a:moveTo>
                <a:lnTo>
                  <a:pt x="872155" y="0"/>
                </a:lnTo>
                <a:lnTo>
                  <a:pt x="872155" y="36340"/>
                </a:lnTo>
                <a:lnTo>
                  <a:pt x="0" y="3634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6" name="Google Shape;372;p6"/>
          <p:cNvSpPr/>
          <p:nvPr/>
        </p:nvSpPr>
        <p:spPr>
          <a:xfrm>
            <a:off x="367920" y="1312920"/>
            <a:ext cx="11455200" cy="2524680"/>
          </a:xfrm>
          <a:custGeom>
            <a:avLst/>
            <a:gdLst>
              <a:gd name="textAreaLeft" fmla="*/ 0 w 11455200"/>
              <a:gd name="textAreaRight" fmla="*/ 11455560 w 11455200"/>
              <a:gd name="textAreaTop" fmla="*/ 0 h 2524680"/>
              <a:gd name="textAreaBottom" fmla="*/ 2525040 h 2524680"/>
            </a:gdLst>
            <a:ahLst/>
            <a:rect l="textAreaLeft" t="textAreaTop" r="textAreaRight" b="textAreaBottom"/>
            <a:pathLst>
              <a:path w="11456119" h="2525615">
                <a:moveTo>
                  <a:pt x="72687" y="0"/>
                </a:moveTo>
                <a:lnTo>
                  <a:pt x="11383432" y="0"/>
                </a:lnTo>
                <a:cubicBezTo>
                  <a:pt x="11423576" y="0"/>
                  <a:pt x="11456119" y="32543"/>
                  <a:pt x="11456119" y="72687"/>
                </a:cubicBezTo>
                <a:lnTo>
                  <a:pt x="11456119" y="2452928"/>
                </a:lnTo>
                <a:cubicBezTo>
                  <a:pt x="11456119" y="2493072"/>
                  <a:pt x="11423576" y="2525615"/>
                  <a:pt x="11383432" y="2525615"/>
                </a:cubicBezTo>
                <a:lnTo>
                  <a:pt x="72687" y="2525615"/>
                </a:lnTo>
                <a:cubicBezTo>
                  <a:pt x="32543" y="2525615"/>
                  <a:pt x="0" y="2493072"/>
                  <a:pt x="0" y="2452928"/>
                </a:cubicBezTo>
                <a:lnTo>
                  <a:pt x="0" y="72687"/>
                </a:lnTo>
                <a:cubicBezTo>
                  <a:pt x="0" y="32570"/>
                  <a:pt x="32570" y="0"/>
                  <a:pt x="72687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7" name="Google Shape;373;p6"/>
          <p:cNvSpPr/>
          <p:nvPr/>
        </p:nvSpPr>
        <p:spPr>
          <a:xfrm>
            <a:off x="517680" y="1462680"/>
            <a:ext cx="1124604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20000"/>
              </a:lnSpc>
              <a:tabLst>
                <a:tab algn="l" pos="0"/>
              </a:tabLst>
            </a:pPr>
            <a:r>
              <a:rPr b="1" lang="en-US" sz="1430" spc="-1" strike="noStrike">
                <a:solidFill>
                  <a:srgbClr val="e8e8e8"/>
                </a:solidFill>
                <a:latin typeface="Liter"/>
                <a:ea typeface="Liter"/>
              </a:rPr>
              <a:t>Performance Summary Table</a:t>
            </a:r>
            <a:endParaRPr b="0" lang="en-US" sz="143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48" name="Google Shape;374;p6"/>
          <p:cNvGraphicFramePr/>
          <p:nvPr/>
        </p:nvGraphicFramePr>
        <p:xfrm>
          <a:off x="517680" y="1825920"/>
          <a:ext cx="11155320" cy="1861200"/>
        </p:xfrm>
        <a:graphic>
          <a:graphicData uri="http://schemas.openxmlformats.org/drawingml/2006/table">
            <a:tbl>
              <a:tblPr/>
              <a:tblGrid>
                <a:gridCol w="1362600"/>
                <a:gridCol w="1707840"/>
                <a:gridCol w="1971000"/>
                <a:gridCol w="4287600"/>
                <a:gridCol w="1825920"/>
              </a:tblGrid>
              <a:tr h="372240"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d4a26a"/>
                          </a:solidFill>
                          <a:latin typeface="Microsoft Yahei"/>
                          <a:ea typeface="Microsoft Yahei"/>
                        </a:rPr>
                        <a:t>Architecture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d4a2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d4a26a"/>
                          </a:solidFill>
                          <a:latin typeface="Microsoft Yahei"/>
                          <a:ea typeface="Microsoft Yahei"/>
                        </a:rPr>
                        <a:t>Paradigm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d4a2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d4a26a"/>
                          </a:solidFill>
                          <a:latin typeface="Microsoft Yahei"/>
                          <a:ea typeface="Microsoft Yahei"/>
                        </a:rPr>
                        <a:t>Target Task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d4a2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d4a26a"/>
                          </a:solidFill>
                          <a:latin typeface="Microsoft Yahei"/>
                          <a:ea typeface="Microsoft Yahei"/>
                        </a:rPr>
                        <a:t>Notable Features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d4a26a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d4a26a"/>
                          </a:solidFill>
                          <a:latin typeface="Microsoft Yahei"/>
                          <a:ea typeface="Microsoft Yahei"/>
                        </a:rPr>
                        <a:t>Computational Load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9360">
                      <a:solidFill>
                        <a:srgbClr val="000000"/>
                      </a:solidFill>
                      <a:prstDash val="solid"/>
                    </a:lnT>
                    <a:lnB w="25200">
                      <a:solidFill>
                        <a:srgbClr val="d4a26a"/>
                      </a:solidFill>
                      <a:prstDash val="solid"/>
                    </a:lnB>
                    <a:noFill/>
                  </a:tcPr>
                </a:tc>
              </a:tr>
              <a:tr h="372240"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e8e8e8"/>
                          </a:solidFill>
                          <a:latin typeface="Microsoft Yahei"/>
                          <a:ea typeface="Microsoft Yahei"/>
                        </a:rPr>
                        <a:t>Custom CNN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d4a26a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Built-from-scratch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d4a26a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Multi-Class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d4a26a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Foundational baseline; Task 5.2 Generalization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d4a26a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Low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25200">
                      <a:solidFill>
                        <a:srgbClr val="d4a26a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2240"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e8e8e8"/>
                          </a:solidFill>
                          <a:latin typeface="Microsoft Yahei"/>
                          <a:ea typeface="Microsoft Yahei"/>
                        </a:rPr>
                        <a:t>ResNet50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Transfer Learning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Multi-Class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Residual blocks; High abstract feature extraction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High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2240"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e8e8e8"/>
                          </a:solidFill>
                          <a:latin typeface="Microsoft Yahei"/>
                          <a:ea typeface="Microsoft Yahei"/>
                        </a:rPr>
                        <a:t>MobileNetV3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Transfer Learning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Binary Screening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Depthwise separable conv; High ROC-AUC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Very Low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1224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372240"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1" lang="en-US" sz="1100" spc="-1" strike="noStrike">
                          <a:solidFill>
                            <a:srgbClr val="e8e8e8"/>
                          </a:solidFill>
                          <a:latin typeface="Microsoft Yahei"/>
                          <a:ea typeface="Microsoft Yahei"/>
                        </a:rPr>
                        <a:t>EfficientNetV2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Transfer Learning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Multi-Class / Granular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Compound scaling; Fused-MBConv; Class-weighted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108720" rIns="10872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  <a:tabLst>
                          <a:tab algn="l" pos="0"/>
                        </a:tabLst>
                      </a:pPr>
                      <a:r>
                        <a:rPr b="0" lang="en-US" sz="1100" spc="-1" strike="noStrike">
                          <a:solidFill>
                            <a:srgbClr val="788a9c"/>
                          </a:solidFill>
                          <a:latin typeface="Microsoft Yahei"/>
                          <a:ea typeface="Microsoft Yahei"/>
                        </a:rPr>
                        <a:t>Medium-High</a:t>
                      </a:r>
                      <a:endParaRPr b="0" lang="en-US" sz="11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108720" marR="108720">
                    <a:lnL w="9360">
                      <a:solidFill>
                        <a:srgbClr val="000000"/>
                      </a:solidFill>
                      <a:prstDash val="solid"/>
                    </a:lnL>
                    <a:lnR w="9360">
                      <a:solidFill>
                        <a:srgbClr val="000000"/>
                      </a:solidFill>
                      <a:prstDash val="solid"/>
                    </a:lnR>
                    <a:lnT w="12240">
                      <a:solidFill>
                        <a:srgbClr val="000000"/>
                      </a:solidFill>
                      <a:prstDash val="solid"/>
                    </a:lnT>
                    <a:lnB w="936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49" name="Google Shape;375;p6"/>
          <p:cNvSpPr/>
          <p:nvPr/>
        </p:nvSpPr>
        <p:spPr>
          <a:xfrm>
            <a:off x="367920" y="3992760"/>
            <a:ext cx="3714840" cy="1607040"/>
          </a:xfrm>
          <a:custGeom>
            <a:avLst/>
            <a:gdLst>
              <a:gd name="textAreaLeft" fmla="*/ 0 w 3714840"/>
              <a:gd name="textAreaRight" fmla="*/ 3715200 w 3714840"/>
              <a:gd name="textAreaTop" fmla="*/ 0 h 1607040"/>
              <a:gd name="textAreaBottom" fmla="*/ 1607400 h 1607040"/>
            </a:gdLst>
            <a:ahLst/>
            <a:rect l="textAreaLeft" t="textAreaTop" r="textAreaRight" b="textAreaBottom"/>
            <a:pathLst>
              <a:path w="3715744" h="1608036">
                <a:moveTo>
                  <a:pt x="72683" y="0"/>
                </a:moveTo>
                <a:lnTo>
                  <a:pt x="3643060" y="0"/>
                </a:lnTo>
                <a:cubicBezTo>
                  <a:pt x="3683202" y="0"/>
                  <a:pt x="3715744" y="32541"/>
                  <a:pt x="3715744" y="72683"/>
                </a:cubicBezTo>
                <a:lnTo>
                  <a:pt x="3715744" y="1535353"/>
                </a:lnTo>
                <a:cubicBezTo>
                  <a:pt x="3715744" y="1575494"/>
                  <a:pt x="3683202" y="1608036"/>
                  <a:pt x="3643060" y="1608036"/>
                </a:cubicBezTo>
                <a:lnTo>
                  <a:pt x="72683" y="1608036"/>
                </a:lnTo>
                <a:cubicBezTo>
                  <a:pt x="32568" y="1608036"/>
                  <a:pt x="0" y="1575468"/>
                  <a:pt x="0" y="1535353"/>
                </a:cubicBezTo>
                <a:lnTo>
                  <a:pt x="0" y="72683"/>
                </a:lnTo>
                <a:cubicBezTo>
                  <a:pt x="0" y="32568"/>
                  <a:pt x="32568" y="0"/>
                  <a:pt x="72683" y="0"/>
                </a:cubicBezTo>
                <a:close/>
              </a:path>
            </a:pathLst>
          </a:custGeom>
          <a:gradFill rotWithShape="0">
            <a:gsLst>
              <a:gs pos="0">
                <a:srgbClr val="d4a26a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2700000"/>
          </a:gradFill>
          <a:ln w="12700">
            <a:solidFill>
              <a:srgbClr val="d4a26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0" name="Google Shape;376;p6"/>
          <p:cNvSpPr/>
          <p:nvPr/>
        </p:nvSpPr>
        <p:spPr>
          <a:xfrm>
            <a:off x="545040" y="4160880"/>
            <a:ext cx="217080" cy="217080"/>
          </a:xfrm>
          <a:custGeom>
            <a:avLst/>
            <a:gdLst>
              <a:gd name="textAreaLeft" fmla="*/ 0 w 217080"/>
              <a:gd name="textAreaRight" fmla="*/ 217440 w 217080"/>
              <a:gd name="textAreaTop" fmla="*/ 0 h 217080"/>
              <a:gd name="textAreaBottom" fmla="*/ 217440 h 217080"/>
            </a:gdLst>
            <a:ahLst/>
            <a:rect l="textAreaLeft" t="textAreaTop" r="textAreaRight" b="textAreaBottom"/>
            <a:pathLst>
              <a:path w="218039" h="218039">
                <a:moveTo>
                  <a:pt x="61451" y="0"/>
                </a:moveTo>
                <a:lnTo>
                  <a:pt x="156843" y="0"/>
                </a:lnTo>
                <a:cubicBezTo>
                  <a:pt x="168128" y="0"/>
                  <a:pt x="177327" y="9284"/>
                  <a:pt x="176901" y="20526"/>
                </a:cubicBezTo>
                <a:cubicBezTo>
                  <a:pt x="176816" y="22783"/>
                  <a:pt x="176731" y="25040"/>
                  <a:pt x="176603" y="27255"/>
                </a:cubicBezTo>
                <a:lnTo>
                  <a:pt x="197725" y="27255"/>
                </a:lnTo>
                <a:cubicBezTo>
                  <a:pt x="208840" y="27255"/>
                  <a:pt x="218635" y="36453"/>
                  <a:pt x="217783" y="48463"/>
                </a:cubicBezTo>
                <a:cubicBezTo>
                  <a:pt x="214589" y="92624"/>
                  <a:pt x="192019" y="116898"/>
                  <a:pt x="167532" y="129588"/>
                </a:cubicBezTo>
                <a:cubicBezTo>
                  <a:pt x="160804" y="133080"/>
                  <a:pt x="153947" y="135678"/>
                  <a:pt x="147432" y="137594"/>
                </a:cubicBezTo>
                <a:cubicBezTo>
                  <a:pt x="138829" y="149774"/>
                  <a:pt x="129886" y="156204"/>
                  <a:pt x="122775" y="159654"/>
                </a:cubicBezTo>
                <a:lnTo>
                  <a:pt x="122775" y="190784"/>
                </a:lnTo>
                <a:lnTo>
                  <a:pt x="150029" y="190784"/>
                </a:lnTo>
                <a:cubicBezTo>
                  <a:pt x="157567" y="190784"/>
                  <a:pt x="163657" y="196874"/>
                  <a:pt x="163657" y="204411"/>
                </a:cubicBezTo>
                <a:cubicBezTo>
                  <a:pt x="163657" y="211949"/>
                  <a:pt x="157567" y="218039"/>
                  <a:pt x="150029" y="218039"/>
                </a:cubicBezTo>
                <a:lnTo>
                  <a:pt x="68265" y="218039"/>
                </a:lnTo>
                <a:cubicBezTo>
                  <a:pt x="60727" y="218039"/>
                  <a:pt x="54637" y="211949"/>
                  <a:pt x="54637" y="204411"/>
                </a:cubicBezTo>
                <a:cubicBezTo>
                  <a:pt x="54637" y="196874"/>
                  <a:pt x="60727" y="190784"/>
                  <a:pt x="68265" y="190784"/>
                </a:cubicBezTo>
                <a:lnTo>
                  <a:pt x="95520" y="190784"/>
                </a:lnTo>
                <a:lnTo>
                  <a:pt x="95520" y="159654"/>
                </a:lnTo>
                <a:cubicBezTo>
                  <a:pt x="88706" y="156375"/>
                  <a:pt x="80231" y="150285"/>
                  <a:pt x="71970" y="139085"/>
                </a:cubicBezTo>
                <a:cubicBezTo>
                  <a:pt x="64134" y="137041"/>
                  <a:pt x="55617" y="133932"/>
                  <a:pt x="47313" y="129248"/>
                </a:cubicBezTo>
                <a:cubicBezTo>
                  <a:pt x="24274" y="116344"/>
                  <a:pt x="3492" y="92028"/>
                  <a:pt x="511" y="48377"/>
                </a:cubicBezTo>
                <a:cubicBezTo>
                  <a:pt x="-298" y="36411"/>
                  <a:pt x="9454" y="27212"/>
                  <a:pt x="20569" y="27212"/>
                </a:cubicBezTo>
                <a:lnTo>
                  <a:pt x="41691" y="27212"/>
                </a:lnTo>
                <a:cubicBezTo>
                  <a:pt x="41564" y="24998"/>
                  <a:pt x="41478" y="22783"/>
                  <a:pt x="41393" y="20484"/>
                </a:cubicBezTo>
                <a:cubicBezTo>
                  <a:pt x="40967" y="9199"/>
                  <a:pt x="50166" y="-43"/>
                  <a:pt x="61451" y="-43"/>
                </a:cubicBezTo>
                <a:close/>
                <a:moveTo>
                  <a:pt x="43224" y="47696"/>
                </a:moveTo>
                <a:lnTo>
                  <a:pt x="20910" y="47696"/>
                </a:lnTo>
                <a:cubicBezTo>
                  <a:pt x="23550" y="83766"/>
                  <a:pt x="40116" y="101822"/>
                  <a:pt x="57193" y="111404"/>
                </a:cubicBezTo>
                <a:cubicBezTo>
                  <a:pt x="51060" y="95520"/>
                  <a:pt x="45993" y="74780"/>
                  <a:pt x="43224" y="47696"/>
                </a:cubicBezTo>
                <a:close/>
                <a:moveTo>
                  <a:pt x="161826" y="109360"/>
                </a:moveTo>
                <a:cubicBezTo>
                  <a:pt x="179073" y="99225"/>
                  <a:pt x="194659" y="81211"/>
                  <a:pt x="197300" y="47696"/>
                </a:cubicBezTo>
                <a:lnTo>
                  <a:pt x="175027" y="47696"/>
                </a:lnTo>
                <a:cubicBezTo>
                  <a:pt x="172387" y="73631"/>
                  <a:pt x="167617" y="93774"/>
                  <a:pt x="161826" y="109360"/>
                </a:cubicBez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1" name="Google Shape;377;p6"/>
          <p:cNvSpPr/>
          <p:nvPr/>
        </p:nvSpPr>
        <p:spPr>
          <a:xfrm>
            <a:off x="899280" y="4142880"/>
            <a:ext cx="13860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90" spc="-1" strike="noStrike">
                <a:solidFill>
                  <a:srgbClr val="e8e8e8"/>
                </a:solidFill>
                <a:latin typeface="Liter"/>
                <a:ea typeface="Liter"/>
              </a:rPr>
              <a:t>Key Finding 1</a:t>
            </a:r>
            <a:endParaRPr b="0" lang="en-US" sz="12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2" name="Google Shape;378;p6"/>
          <p:cNvSpPr/>
          <p:nvPr/>
        </p:nvSpPr>
        <p:spPr>
          <a:xfrm>
            <a:off x="517680" y="4506120"/>
            <a:ext cx="348768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Custom CNN provides competitive baseline</a:t>
            </a:r>
            <a:r>
              <a:rPr b="0" lang="en-US" sz="11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with remarkably low computational requirements, making it suitable for rapid prototyping and resource-limited environments.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Google Shape;379;p6"/>
          <p:cNvSpPr/>
          <p:nvPr/>
        </p:nvSpPr>
        <p:spPr>
          <a:xfrm>
            <a:off x="4238640" y="3992760"/>
            <a:ext cx="3714840" cy="1607040"/>
          </a:xfrm>
          <a:custGeom>
            <a:avLst/>
            <a:gdLst>
              <a:gd name="textAreaLeft" fmla="*/ 0 w 3714840"/>
              <a:gd name="textAreaRight" fmla="*/ 3715200 w 3714840"/>
              <a:gd name="textAreaTop" fmla="*/ 0 h 1607040"/>
              <a:gd name="textAreaBottom" fmla="*/ 1607400 h 1607040"/>
            </a:gdLst>
            <a:ahLst/>
            <a:rect l="textAreaLeft" t="textAreaTop" r="textAreaRight" b="textAreaBottom"/>
            <a:pathLst>
              <a:path w="3715744" h="1608036">
                <a:moveTo>
                  <a:pt x="72683" y="0"/>
                </a:moveTo>
                <a:lnTo>
                  <a:pt x="3643060" y="0"/>
                </a:lnTo>
                <a:cubicBezTo>
                  <a:pt x="3683202" y="0"/>
                  <a:pt x="3715744" y="32541"/>
                  <a:pt x="3715744" y="72683"/>
                </a:cubicBezTo>
                <a:lnTo>
                  <a:pt x="3715744" y="1535353"/>
                </a:lnTo>
                <a:cubicBezTo>
                  <a:pt x="3715744" y="1575494"/>
                  <a:pt x="3683202" y="1608036"/>
                  <a:pt x="3643060" y="1608036"/>
                </a:cubicBezTo>
                <a:lnTo>
                  <a:pt x="72683" y="1608036"/>
                </a:lnTo>
                <a:cubicBezTo>
                  <a:pt x="32568" y="1608036"/>
                  <a:pt x="0" y="1575468"/>
                  <a:pt x="0" y="1535353"/>
                </a:cubicBezTo>
                <a:lnTo>
                  <a:pt x="0" y="72683"/>
                </a:lnTo>
                <a:cubicBezTo>
                  <a:pt x="0" y="32568"/>
                  <a:pt x="32568" y="0"/>
                  <a:pt x="72683" y="0"/>
                </a:cubicBezTo>
                <a:close/>
              </a:path>
            </a:pathLst>
          </a:custGeom>
          <a:gradFill rotWithShape="0">
            <a:gsLst>
              <a:gs pos="0">
                <a:srgbClr val="4a6c82">
                  <a:alpha val="20000"/>
                </a:srgbClr>
              </a:gs>
              <a:gs pos="100000">
                <a:srgbClr val="788a9c">
                  <a:alpha val="10000"/>
                </a:srgbClr>
              </a:gs>
            </a:gsLst>
            <a:lin ang="2700000"/>
          </a:gra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4" name="Google Shape;380;p6"/>
          <p:cNvSpPr/>
          <p:nvPr/>
        </p:nvSpPr>
        <p:spPr>
          <a:xfrm>
            <a:off x="4388760" y="4160880"/>
            <a:ext cx="271440" cy="217080"/>
          </a:xfrm>
          <a:custGeom>
            <a:avLst/>
            <a:gdLst>
              <a:gd name="textAreaLeft" fmla="*/ 0 w 271440"/>
              <a:gd name="textAreaRight" fmla="*/ 271800 w 271440"/>
              <a:gd name="textAreaTop" fmla="*/ 0 h 217080"/>
              <a:gd name="textAreaBottom" fmla="*/ 217440 h 217080"/>
            </a:gdLst>
            <a:ahLst/>
            <a:rect l="textAreaLeft" t="textAreaTop" r="textAreaRight" b="textAreaBottom"/>
            <a:pathLst>
              <a:path w="272548" h="218039">
                <a:moveTo>
                  <a:pt x="163529" y="13627"/>
                </a:moveTo>
                <a:lnTo>
                  <a:pt x="218039" y="13627"/>
                </a:lnTo>
                <a:cubicBezTo>
                  <a:pt x="225576" y="13627"/>
                  <a:pt x="231666" y="19717"/>
                  <a:pt x="231666" y="27255"/>
                </a:cubicBezTo>
                <a:cubicBezTo>
                  <a:pt x="231666" y="34793"/>
                  <a:pt x="225576" y="40882"/>
                  <a:pt x="218039" y="40882"/>
                </a:cubicBezTo>
                <a:lnTo>
                  <a:pt x="169661" y="40882"/>
                </a:lnTo>
                <a:cubicBezTo>
                  <a:pt x="167447" y="51869"/>
                  <a:pt x="159909" y="60940"/>
                  <a:pt x="149902" y="65284"/>
                </a:cubicBezTo>
                <a:lnTo>
                  <a:pt x="149902" y="190784"/>
                </a:lnTo>
                <a:lnTo>
                  <a:pt x="218039" y="190784"/>
                </a:lnTo>
                <a:cubicBezTo>
                  <a:pt x="225576" y="190784"/>
                  <a:pt x="231666" y="196874"/>
                  <a:pt x="231666" y="204411"/>
                </a:cubicBezTo>
                <a:cubicBezTo>
                  <a:pt x="231666" y="211949"/>
                  <a:pt x="225576" y="218039"/>
                  <a:pt x="218039" y="218039"/>
                </a:cubicBezTo>
                <a:lnTo>
                  <a:pt x="54510" y="218039"/>
                </a:lnTo>
                <a:cubicBezTo>
                  <a:pt x="46972" y="218039"/>
                  <a:pt x="40882" y="211949"/>
                  <a:pt x="40882" y="204411"/>
                </a:cubicBezTo>
                <a:cubicBezTo>
                  <a:pt x="40882" y="196874"/>
                  <a:pt x="46972" y="190784"/>
                  <a:pt x="54510" y="190784"/>
                </a:cubicBezTo>
                <a:lnTo>
                  <a:pt x="122647" y="190784"/>
                </a:lnTo>
                <a:lnTo>
                  <a:pt x="122647" y="65284"/>
                </a:lnTo>
                <a:cubicBezTo>
                  <a:pt x="112639" y="60898"/>
                  <a:pt x="105101" y="51827"/>
                  <a:pt x="102887" y="40882"/>
                </a:cubicBezTo>
                <a:lnTo>
                  <a:pt x="54510" y="40882"/>
                </a:lnTo>
                <a:cubicBezTo>
                  <a:pt x="46972" y="40882"/>
                  <a:pt x="40882" y="34793"/>
                  <a:pt x="40882" y="27255"/>
                </a:cubicBezTo>
                <a:cubicBezTo>
                  <a:pt x="40882" y="19717"/>
                  <a:pt x="46972" y="13627"/>
                  <a:pt x="54510" y="13627"/>
                </a:cubicBezTo>
                <a:lnTo>
                  <a:pt x="109019" y="13627"/>
                </a:lnTo>
                <a:cubicBezTo>
                  <a:pt x="115237" y="5366"/>
                  <a:pt x="125117" y="0"/>
                  <a:pt x="136274" y="0"/>
                </a:cubicBezTo>
                <a:cubicBezTo>
                  <a:pt x="147432" y="0"/>
                  <a:pt x="157312" y="5366"/>
                  <a:pt x="163529" y="13627"/>
                </a:cubicBezTo>
                <a:close/>
                <a:moveTo>
                  <a:pt x="187207" y="136274"/>
                </a:moveTo>
                <a:lnTo>
                  <a:pt x="248871" y="136274"/>
                </a:lnTo>
                <a:lnTo>
                  <a:pt x="218039" y="83383"/>
                </a:lnTo>
                <a:lnTo>
                  <a:pt x="187207" y="136274"/>
                </a:lnTo>
                <a:close/>
                <a:moveTo>
                  <a:pt x="218039" y="177156"/>
                </a:moveTo>
                <a:cubicBezTo>
                  <a:pt x="191252" y="177156"/>
                  <a:pt x="168980" y="162677"/>
                  <a:pt x="164381" y="143556"/>
                </a:cubicBezTo>
                <a:cubicBezTo>
                  <a:pt x="163274" y="138872"/>
                  <a:pt x="164807" y="134060"/>
                  <a:pt x="167234" y="129886"/>
                </a:cubicBezTo>
                <a:lnTo>
                  <a:pt x="207776" y="60387"/>
                </a:lnTo>
                <a:cubicBezTo>
                  <a:pt x="209905" y="56724"/>
                  <a:pt x="213823" y="54510"/>
                  <a:pt x="218039" y="54510"/>
                </a:cubicBezTo>
                <a:cubicBezTo>
                  <a:pt x="222255" y="54510"/>
                  <a:pt x="226173" y="56767"/>
                  <a:pt x="228302" y="60387"/>
                </a:cubicBezTo>
                <a:lnTo>
                  <a:pt x="268843" y="129886"/>
                </a:lnTo>
                <a:cubicBezTo>
                  <a:pt x="271271" y="134060"/>
                  <a:pt x="272804" y="138872"/>
                  <a:pt x="271697" y="143556"/>
                </a:cubicBezTo>
                <a:cubicBezTo>
                  <a:pt x="267097" y="162635"/>
                  <a:pt x="244825" y="177156"/>
                  <a:pt x="218039" y="177156"/>
                </a:cubicBezTo>
                <a:close/>
                <a:moveTo>
                  <a:pt x="53999" y="83383"/>
                </a:moveTo>
                <a:lnTo>
                  <a:pt x="23167" y="136274"/>
                </a:lnTo>
                <a:lnTo>
                  <a:pt x="84873" y="136274"/>
                </a:lnTo>
                <a:lnTo>
                  <a:pt x="53999" y="83383"/>
                </a:lnTo>
                <a:close/>
                <a:moveTo>
                  <a:pt x="383" y="143556"/>
                </a:moveTo>
                <a:cubicBezTo>
                  <a:pt x="-724" y="138872"/>
                  <a:pt x="809" y="134060"/>
                  <a:pt x="3237" y="129886"/>
                </a:cubicBezTo>
                <a:lnTo>
                  <a:pt x="43778" y="60387"/>
                </a:lnTo>
                <a:cubicBezTo>
                  <a:pt x="45907" y="56724"/>
                  <a:pt x="49825" y="54510"/>
                  <a:pt x="54041" y="54510"/>
                </a:cubicBezTo>
                <a:cubicBezTo>
                  <a:pt x="58257" y="54510"/>
                  <a:pt x="62175" y="56767"/>
                  <a:pt x="64304" y="60387"/>
                </a:cubicBezTo>
                <a:lnTo>
                  <a:pt x="104846" y="129886"/>
                </a:lnTo>
                <a:cubicBezTo>
                  <a:pt x="107273" y="134060"/>
                  <a:pt x="108806" y="138872"/>
                  <a:pt x="107699" y="143556"/>
                </a:cubicBezTo>
                <a:cubicBezTo>
                  <a:pt x="103100" y="162635"/>
                  <a:pt x="80828" y="177156"/>
                  <a:pt x="54041" y="177156"/>
                </a:cubicBezTo>
                <a:cubicBezTo>
                  <a:pt x="27255" y="177156"/>
                  <a:pt x="4983" y="162677"/>
                  <a:pt x="383" y="143556"/>
                </a:cubicBezTo>
                <a:close/>
              </a:path>
            </a:pathLst>
          </a:custGeom>
          <a:solidFill>
            <a:srgbClr val="4a6c8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Google Shape;381;p6"/>
          <p:cNvSpPr/>
          <p:nvPr/>
        </p:nvSpPr>
        <p:spPr>
          <a:xfrm>
            <a:off x="4770000" y="4142880"/>
            <a:ext cx="117288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90" spc="-1" strike="noStrike">
                <a:solidFill>
                  <a:srgbClr val="e8e8e8"/>
                </a:solidFill>
                <a:latin typeface="Liter"/>
                <a:ea typeface="Liter"/>
              </a:rPr>
              <a:t>Key Finding 2</a:t>
            </a:r>
            <a:endParaRPr b="0" lang="en-US" sz="12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Google Shape;382;p6"/>
          <p:cNvSpPr/>
          <p:nvPr/>
        </p:nvSpPr>
        <p:spPr>
          <a:xfrm>
            <a:off x="4388760" y="4506120"/>
            <a:ext cx="348768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ResNet50 excels at abstract feature extraction</a:t>
            </a:r>
            <a:r>
              <a:rPr b="0" lang="en-US" sz="11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but requires substantial computational resources, trading efficiency for superior performance on complex patterns.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7" name="Google Shape;383;p6"/>
          <p:cNvSpPr/>
          <p:nvPr/>
        </p:nvSpPr>
        <p:spPr>
          <a:xfrm>
            <a:off x="8109720" y="3992760"/>
            <a:ext cx="3714840" cy="1607040"/>
          </a:xfrm>
          <a:custGeom>
            <a:avLst/>
            <a:gdLst>
              <a:gd name="textAreaLeft" fmla="*/ 0 w 3714840"/>
              <a:gd name="textAreaRight" fmla="*/ 3715200 w 3714840"/>
              <a:gd name="textAreaTop" fmla="*/ 0 h 1607040"/>
              <a:gd name="textAreaBottom" fmla="*/ 1607400 h 1607040"/>
            </a:gdLst>
            <a:ahLst/>
            <a:rect l="textAreaLeft" t="textAreaTop" r="textAreaRight" b="textAreaBottom"/>
            <a:pathLst>
              <a:path w="3715744" h="1608036">
                <a:moveTo>
                  <a:pt x="72683" y="0"/>
                </a:moveTo>
                <a:lnTo>
                  <a:pt x="3643060" y="0"/>
                </a:lnTo>
                <a:cubicBezTo>
                  <a:pt x="3683202" y="0"/>
                  <a:pt x="3715744" y="32541"/>
                  <a:pt x="3715744" y="72683"/>
                </a:cubicBezTo>
                <a:lnTo>
                  <a:pt x="3715744" y="1535353"/>
                </a:lnTo>
                <a:cubicBezTo>
                  <a:pt x="3715744" y="1575494"/>
                  <a:pt x="3683202" y="1608036"/>
                  <a:pt x="3643060" y="1608036"/>
                </a:cubicBezTo>
                <a:lnTo>
                  <a:pt x="72683" y="1608036"/>
                </a:lnTo>
                <a:cubicBezTo>
                  <a:pt x="32568" y="1608036"/>
                  <a:pt x="0" y="1575468"/>
                  <a:pt x="0" y="1535353"/>
                </a:cubicBezTo>
                <a:lnTo>
                  <a:pt x="0" y="72683"/>
                </a:lnTo>
                <a:cubicBezTo>
                  <a:pt x="0" y="32568"/>
                  <a:pt x="32568" y="0"/>
                  <a:pt x="72683" y="0"/>
                </a:cubicBezTo>
                <a:close/>
              </a:path>
            </a:pathLst>
          </a:custGeom>
          <a:gradFill rotWithShape="0">
            <a:gsLst>
              <a:gs pos="0">
                <a:srgbClr val="788a9c">
                  <a:alpha val="20000"/>
                </a:srgbClr>
              </a:gs>
              <a:gs pos="100000">
                <a:srgbClr val="d4a26a">
                  <a:alpha val="10000"/>
                </a:srgbClr>
              </a:gs>
            </a:gsLst>
            <a:lin ang="2700000"/>
          </a:gradFill>
          <a:ln w="12700">
            <a:solidFill>
              <a:srgbClr val="788a9c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8" name="Google Shape;384;p6"/>
          <p:cNvSpPr/>
          <p:nvPr/>
        </p:nvSpPr>
        <p:spPr>
          <a:xfrm>
            <a:off x="8313840" y="4160880"/>
            <a:ext cx="162360" cy="217080"/>
          </a:xfrm>
          <a:custGeom>
            <a:avLst/>
            <a:gdLst>
              <a:gd name="textAreaLeft" fmla="*/ 0 w 162360"/>
              <a:gd name="textAreaRight" fmla="*/ 162720 w 162360"/>
              <a:gd name="textAreaTop" fmla="*/ 0 h 217080"/>
              <a:gd name="textAreaBottom" fmla="*/ 217440 h 217080"/>
            </a:gdLst>
            <a:ahLst/>
            <a:rect l="textAreaLeft" t="textAreaTop" r="textAreaRight" b="textAreaBottom"/>
            <a:pathLst>
              <a:path w="163529" h="218039">
                <a:moveTo>
                  <a:pt x="6814" y="27255"/>
                </a:moveTo>
                <a:cubicBezTo>
                  <a:pt x="6814" y="12222"/>
                  <a:pt x="19036" y="0"/>
                  <a:pt x="34069" y="0"/>
                </a:cubicBezTo>
                <a:lnTo>
                  <a:pt x="129461" y="0"/>
                </a:lnTo>
                <a:cubicBezTo>
                  <a:pt x="144493" y="0"/>
                  <a:pt x="156715" y="12222"/>
                  <a:pt x="156715" y="27255"/>
                </a:cubicBezTo>
                <a:lnTo>
                  <a:pt x="156715" y="190784"/>
                </a:lnTo>
                <a:cubicBezTo>
                  <a:pt x="156715" y="205817"/>
                  <a:pt x="144493" y="218039"/>
                  <a:pt x="129461" y="218039"/>
                </a:cubicBezTo>
                <a:lnTo>
                  <a:pt x="34069" y="218039"/>
                </a:lnTo>
                <a:cubicBezTo>
                  <a:pt x="19036" y="218039"/>
                  <a:pt x="6814" y="205817"/>
                  <a:pt x="6814" y="190784"/>
                </a:cubicBezTo>
                <a:lnTo>
                  <a:pt x="6814" y="27255"/>
                </a:lnTo>
                <a:close/>
                <a:moveTo>
                  <a:pt x="34069" y="27255"/>
                </a:moveTo>
                <a:lnTo>
                  <a:pt x="34069" y="156715"/>
                </a:lnTo>
                <a:lnTo>
                  <a:pt x="129461" y="156715"/>
                </a:lnTo>
                <a:lnTo>
                  <a:pt x="129461" y="27255"/>
                </a:lnTo>
                <a:lnTo>
                  <a:pt x="34069" y="27255"/>
                </a:lnTo>
                <a:close/>
                <a:moveTo>
                  <a:pt x="81765" y="201004"/>
                </a:moveTo>
                <a:cubicBezTo>
                  <a:pt x="89302" y="201004"/>
                  <a:pt x="95392" y="194915"/>
                  <a:pt x="95392" y="187377"/>
                </a:cubicBezTo>
                <a:cubicBezTo>
                  <a:pt x="95392" y="179839"/>
                  <a:pt x="89302" y="173750"/>
                  <a:pt x="81765" y="173750"/>
                </a:cubicBezTo>
                <a:cubicBezTo>
                  <a:pt x="74227" y="173750"/>
                  <a:pt x="68137" y="179839"/>
                  <a:pt x="68137" y="187377"/>
                </a:cubicBezTo>
                <a:cubicBezTo>
                  <a:pt x="68137" y="194915"/>
                  <a:pt x="74227" y="201004"/>
                  <a:pt x="81765" y="201004"/>
                </a:cubicBezTo>
                <a:close/>
              </a:path>
            </a:pathLst>
          </a:custGeom>
          <a:solidFill>
            <a:srgbClr val="788a9c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Google Shape;385;p6"/>
          <p:cNvSpPr/>
          <p:nvPr/>
        </p:nvSpPr>
        <p:spPr>
          <a:xfrm>
            <a:off x="8641080" y="4142880"/>
            <a:ext cx="11880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90" spc="-1" strike="noStrike">
                <a:solidFill>
                  <a:srgbClr val="e8e8e8"/>
                </a:solidFill>
                <a:latin typeface="Liter"/>
                <a:ea typeface="Liter"/>
              </a:rPr>
              <a:t>Key Finding 3</a:t>
            </a:r>
            <a:endParaRPr b="0" lang="en-US" sz="12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Google Shape;386;p6"/>
          <p:cNvSpPr/>
          <p:nvPr/>
        </p:nvSpPr>
        <p:spPr>
          <a:xfrm>
            <a:off x="8259480" y="4506120"/>
            <a:ext cx="3487680" cy="94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4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e8e8e8"/>
                </a:solidFill>
                <a:latin typeface="Quattrocento Sans"/>
                <a:ea typeface="Quattrocento Sans"/>
              </a:rPr>
              <a:t>MobileNetV3 achieves optimal efficiency</a:t>
            </a:r>
            <a:r>
              <a:rPr b="0" lang="en-US" sz="1150" spc="-1" strike="noStrike">
                <a:solidFill>
                  <a:srgbClr val="788a9c"/>
                </a:solidFill>
                <a:latin typeface="Quattrocento Sans"/>
                <a:ea typeface="Quattrocento Sans"/>
              </a:rPr>
              <a:t> with very low computational overhead, making it ideal for real-time clinical screening and mobile deployment scenarios.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"/>
          <p:cNvSpPr txBox="1"/>
          <p:nvPr/>
        </p:nvSpPr>
        <p:spPr>
          <a:xfrm>
            <a:off x="1855440" y="5874480"/>
            <a:ext cx="7974360" cy="754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</a:pP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+3.86% accuracy gain over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CustomCNN on the held-out test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set (0.7932 → 0.8318). Recall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improved most (+6.54%),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meaning the model misses fewer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tumor cases — critical in medical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  <a:ea typeface="Noto Sans CJK SC"/>
              </a:rPr>
              <a:t>imaging.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CBAM gave the largest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gains on visually ambiguous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classes like Astrocitoma T2 (F1: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0.58 → 0.74). The computational </a:t>
            </a:r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load is still Low-Medium. 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2" name="Google Shape;375;p 1"/>
          <p:cNvSpPr/>
          <p:nvPr/>
        </p:nvSpPr>
        <p:spPr>
          <a:xfrm>
            <a:off x="228600" y="5715000"/>
            <a:ext cx="10972800" cy="914400"/>
          </a:xfrm>
          <a:custGeom>
            <a:avLst/>
            <a:gdLst>
              <a:gd name="textAreaLeft" fmla="*/ 0 w 10972800"/>
              <a:gd name="textAreaRight" fmla="*/ 10973160 w 10972800"/>
              <a:gd name="textAreaTop" fmla="*/ 0 h 914400"/>
              <a:gd name="textAreaBottom" fmla="*/ 914760 h 914400"/>
            </a:gdLst>
            <a:ahLst/>
            <a:rect l="textAreaLeft" t="textAreaTop" r="textAreaRight" b="textAreaBottom"/>
            <a:pathLst>
              <a:path w="3715744" h="1608036">
                <a:moveTo>
                  <a:pt x="72683" y="0"/>
                </a:moveTo>
                <a:lnTo>
                  <a:pt x="3643060" y="0"/>
                </a:lnTo>
                <a:cubicBezTo>
                  <a:pt x="3683202" y="0"/>
                  <a:pt x="3715744" y="32541"/>
                  <a:pt x="3715744" y="72683"/>
                </a:cubicBezTo>
                <a:lnTo>
                  <a:pt x="3715744" y="1535353"/>
                </a:lnTo>
                <a:cubicBezTo>
                  <a:pt x="3715744" y="1575494"/>
                  <a:pt x="3683202" y="1608036"/>
                  <a:pt x="3643060" y="1608036"/>
                </a:cubicBezTo>
                <a:lnTo>
                  <a:pt x="72683" y="1608036"/>
                </a:lnTo>
                <a:cubicBezTo>
                  <a:pt x="32568" y="1608036"/>
                  <a:pt x="0" y="1575468"/>
                  <a:pt x="0" y="1535353"/>
                </a:cubicBezTo>
                <a:lnTo>
                  <a:pt x="0" y="72683"/>
                </a:lnTo>
                <a:cubicBezTo>
                  <a:pt x="0" y="32568"/>
                  <a:pt x="32568" y="0"/>
                  <a:pt x="72683" y="0"/>
                </a:cubicBezTo>
                <a:close/>
              </a:path>
            </a:pathLst>
          </a:custGeom>
          <a:gradFill rotWithShape="0">
            <a:gsLst>
              <a:gs pos="0">
                <a:srgbClr val="d4a26a">
                  <a:alpha val="20000"/>
                </a:srgbClr>
              </a:gs>
              <a:gs pos="100000">
                <a:srgbClr val="4a6c82">
                  <a:alpha val="10000"/>
                </a:srgbClr>
              </a:gs>
            </a:gsLst>
            <a:lin ang="2700000"/>
          </a:gradFill>
          <a:ln w="12700">
            <a:solidFill>
              <a:srgbClr val="d4a26a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3" name="Google Shape;377;p 1"/>
          <p:cNvSpPr/>
          <p:nvPr/>
        </p:nvSpPr>
        <p:spPr>
          <a:xfrm>
            <a:off x="899280" y="4146840"/>
            <a:ext cx="13860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90" spc="-1" strike="noStrike">
                <a:solidFill>
                  <a:srgbClr val="e8e8e8"/>
                </a:solidFill>
                <a:latin typeface="Liter"/>
                <a:ea typeface="Liter"/>
              </a:rPr>
              <a:t>Key Finding 1</a:t>
            </a:r>
            <a:endParaRPr b="0" lang="en-US" sz="12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Google Shape;377;p 2"/>
          <p:cNvSpPr/>
          <p:nvPr/>
        </p:nvSpPr>
        <p:spPr>
          <a:xfrm>
            <a:off x="685800" y="5918760"/>
            <a:ext cx="1386000" cy="253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90" spc="-1" strike="noStrike">
                <a:solidFill>
                  <a:srgbClr val="e8e8e8"/>
                </a:solidFill>
                <a:latin typeface="Liter"/>
                <a:ea typeface="Liter"/>
              </a:rPr>
              <a:t>Key Finding 4</a:t>
            </a:r>
            <a:endParaRPr b="0" lang="en-US" sz="129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"/>
          <p:cNvSpPr txBox="1"/>
          <p:nvPr/>
        </p:nvSpPr>
        <p:spPr>
          <a:xfrm>
            <a:off x="685800" y="6172200"/>
            <a:ext cx="95328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ffffff"/>
                </a:solidFill>
                <a:latin typeface="Arial"/>
              </a:rPr>
              <a:t>AttentionCNN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"/>
          <p:cNvSpPr txBox="1"/>
          <p:nvPr/>
        </p:nvSpPr>
        <p:spPr>
          <a:xfrm>
            <a:off x="457200" y="914400"/>
            <a:ext cx="4700880" cy="44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Data Preparation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44-class Brain Tumor MRI dataset split 70/15/15 via stratified sampling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Augmentation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Training: flip, rotation ±15°, color jitter | Val/Test: resize + normalize only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5 Conv blocks (3→32→64→128→256→512) each with BN → ReLU → MaxPool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Global Average Pooling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Replaces flatten to reduce overfitting and make model resolution-agnostic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Classification Head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Dropout(0.5) → FC(512→256) → ReLU → Dropout(0.4) → FC(256→44)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7" name=""/>
          <p:cNvSpPr txBox="1"/>
          <p:nvPr/>
        </p:nvSpPr>
        <p:spPr>
          <a:xfrm>
            <a:off x="6288480" y="1063440"/>
            <a:ext cx="4455720" cy="44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Optimizer &amp; Scheduler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Adam (lr=1e-3, wd=1e-4) with ReduceLROnPlateau (factor=0.5, patience=3)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Early Stopping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Patience of 5 epochs, activates after epoch 5, restores best weights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Cross-Validation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5-fold stratified K-fold on training split; test set never touched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Evaluation Metrics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Accuracy, Macro Precision/Recall/F1, Confusion Matrix, ROC-AUC (OvR)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Statistical Testing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Paired t-test vs MobileNetV3, ResNet50, EfficientNetV2 (p &lt; 0.05 threshold)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8" name=""/>
          <p:cNvSpPr txBox="1"/>
          <p:nvPr/>
        </p:nvSpPr>
        <p:spPr>
          <a:xfrm>
            <a:off x="457200" y="453240"/>
            <a:ext cx="1684800" cy="3740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Custom CNN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Methodology</a:t>
            </a:r>
            <a:endParaRPr b="1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9" name="Google Shape;372;p 2"/>
          <p:cNvSpPr/>
          <p:nvPr/>
        </p:nvSpPr>
        <p:spPr>
          <a:xfrm>
            <a:off x="367920" y="914400"/>
            <a:ext cx="11455200" cy="5486400"/>
          </a:xfrm>
          <a:custGeom>
            <a:avLst/>
            <a:gdLst>
              <a:gd name="textAreaLeft" fmla="*/ 0 w 11455200"/>
              <a:gd name="textAreaRight" fmla="*/ 11455560 w 11455200"/>
              <a:gd name="textAreaTop" fmla="*/ 0 h 5486400"/>
              <a:gd name="textAreaBottom" fmla="*/ 5486760 h 5486400"/>
            </a:gdLst>
            <a:ahLst/>
            <a:rect l="textAreaLeft" t="textAreaTop" r="textAreaRight" b="textAreaBottom"/>
            <a:pathLst>
              <a:path w="11456119" h="2525615">
                <a:moveTo>
                  <a:pt x="72687" y="0"/>
                </a:moveTo>
                <a:lnTo>
                  <a:pt x="11383432" y="0"/>
                </a:lnTo>
                <a:cubicBezTo>
                  <a:pt x="11423576" y="0"/>
                  <a:pt x="11456119" y="32543"/>
                  <a:pt x="11456119" y="72687"/>
                </a:cubicBezTo>
                <a:lnTo>
                  <a:pt x="11456119" y="2452928"/>
                </a:lnTo>
                <a:cubicBezTo>
                  <a:pt x="11456119" y="2493072"/>
                  <a:pt x="11423576" y="2525615"/>
                  <a:pt x="11383432" y="2525615"/>
                </a:cubicBezTo>
                <a:lnTo>
                  <a:pt x="72687" y="2525615"/>
                </a:lnTo>
                <a:cubicBezTo>
                  <a:pt x="32543" y="2525615"/>
                  <a:pt x="0" y="2493072"/>
                  <a:pt x="0" y="2452928"/>
                </a:cubicBezTo>
                <a:lnTo>
                  <a:pt x="0" y="72687"/>
                </a:lnTo>
                <a:cubicBezTo>
                  <a:pt x="0" y="32570"/>
                  <a:pt x="32570" y="0"/>
                  <a:pt x="72687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Google Shape;372;p 3"/>
          <p:cNvSpPr/>
          <p:nvPr/>
        </p:nvSpPr>
        <p:spPr>
          <a:xfrm>
            <a:off x="367920" y="914400"/>
            <a:ext cx="11455200" cy="5486400"/>
          </a:xfrm>
          <a:custGeom>
            <a:avLst/>
            <a:gdLst>
              <a:gd name="textAreaLeft" fmla="*/ 0 w 11455200"/>
              <a:gd name="textAreaRight" fmla="*/ 11455560 w 11455200"/>
              <a:gd name="textAreaTop" fmla="*/ 0 h 5486400"/>
              <a:gd name="textAreaBottom" fmla="*/ 5486760 h 5486400"/>
            </a:gdLst>
            <a:ahLst/>
            <a:rect l="textAreaLeft" t="textAreaTop" r="textAreaRight" b="textAreaBottom"/>
            <a:pathLst>
              <a:path w="11456119" h="2525615">
                <a:moveTo>
                  <a:pt x="72687" y="0"/>
                </a:moveTo>
                <a:lnTo>
                  <a:pt x="11383432" y="0"/>
                </a:lnTo>
                <a:cubicBezTo>
                  <a:pt x="11423576" y="0"/>
                  <a:pt x="11456119" y="32543"/>
                  <a:pt x="11456119" y="72687"/>
                </a:cubicBezTo>
                <a:lnTo>
                  <a:pt x="11456119" y="2452928"/>
                </a:lnTo>
                <a:cubicBezTo>
                  <a:pt x="11456119" y="2493072"/>
                  <a:pt x="11423576" y="2525615"/>
                  <a:pt x="11383432" y="2525615"/>
                </a:cubicBezTo>
                <a:lnTo>
                  <a:pt x="72687" y="2525615"/>
                </a:lnTo>
                <a:cubicBezTo>
                  <a:pt x="32543" y="2525615"/>
                  <a:pt x="0" y="2493072"/>
                  <a:pt x="0" y="2452928"/>
                </a:cubicBezTo>
                <a:lnTo>
                  <a:pt x="0" y="72687"/>
                </a:lnTo>
                <a:cubicBezTo>
                  <a:pt x="0" y="32570"/>
                  <a:pt x="32570" y="0"/>
                  <a:pt x="72687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"/>
          <p:cNvSpPr txBox="1"/>
          <p:nvPr/>
        </p:nvSpPr>
        <p:spPr>
          <a:xfrm>
            <a:off x="457200" y="914400"/>
            <a:ext cx="4700880" cy="59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Base Architecture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Built on Task 3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CustomCNN; CBAM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attention module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inserted after every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Conv block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Channel Attention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AvgPool + MaxPool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fed through shared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MLP, summed and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gated with Sigmoid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to weight channels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Spatial Attention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Channel-wise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AvgPool &amp; MaxPool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concatenated,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passed through 7×7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Conv + Sigmoid to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weight locations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CBAM Flow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x → Channel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Attention → x' →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Spatial Attention →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x'' (both applied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multiplicatively)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Reduction Ratios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Ratio scaled by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block depth: 4 (Block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1), 8 (Block 2), 16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(Blocks 3–5)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Training Setup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Adam (lr=1e-3),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ReduceLROnPlatea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u, Early Stopping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(patience=5, min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epoch=5)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2" name=""/>
          <p:cNvSpPr txBox="1"/>
          <p:nvPr/>
        </p:nvSpPr>
        <p:spPr>
          <a:xfrm>
            <a:off x="6288480" y="1063440"/>
            <a:ext cx="4455720" cy="44229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Max Epochs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Extended to 60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epochs (vs 50 in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Task 3) to allow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attention layers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more time to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converge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Cross-Validation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Same 5-fold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stratified K-fold on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70% training split;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held-out 15% test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untouched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Evaluation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Accuracy, Macro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Precision/Recall/F1,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ROC-AUC +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confusion matrix diff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vs Task 3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Statistical Testing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Paired t-test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between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AttentionCNN and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CustomCNN fold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scores (p &lt; 0.05 </a:t>
            </a:r>
            <a:r>
              <a:rPr b="0" lang="en-US" sz="1000" spc="-1" strike="noStrike">
                <a:solidFill>
                  <a:srgbClr val="000000"/>
                </a:solidFill>
                <a:latin typeface="Arial"/>
              </a:rPr>
              <a:t>threshold)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  <a:p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3" name=""/>
          <p:cNvSpPr txBox="1"/>
          <p:nvPr/>
        </p:nvSpPr>
        <p:spPr>
          <a:xfrm>
            <a:off x="457200" y="453240"/>
            <a:ext cx="4572000" cy="232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Attention-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Enhanced CNN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(CBAM) </a:t>
            </a:r>
            <a:r>
              <a:rPr b="1" lang="en-US" sz="1000" spc="-1" strike="noStrike">
                <a:solidFill>
                  <a:srgbClr val="000000"/>
                </a:solidFill>
                <a:latin typeface="Arial"/>
              </a:rPr>
              <a:t>Methodology</a:t>
            </a:r>
            <a:endParaRPr b="0" lang="en-US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4" name="Google Shape;372;p 4"/>
          <p:cNvSpPr/>
          <p:nvPr/>
        </p:nvSpPr>
        <p:spPr>
          <a:xfrm>
            <a:off x="228600" y="914400"/>
            <a:ext cx="10972800" cy="5486400"/>
          </a:xfrm>
          <a:custGeom>
            <a:avLst/>
            <a:gdLst>
              <a:gd name="textAreaLeft" fmla="*/ 0 w 10972800"/>
              <a:gd name="textAreaRight" fmla="*/ 10973160 w 10972800"/>
              <a:gd name="textAreaTop" fmla="*/ 0 h 5486400"/>
              <a:gd name="textAreaBottom" fmla="*/ 5486760 h 5486400"/>
            </a:gdLst>
            <a:ahLst/>
            <a:rect l="textAreaLeft" t="textAreaTop" r="textAreaRight" b="textAreaBottom"/>
            <a:pathLst>
              <a:path w="11456119" h="2525615">
                <a:moveTo>
                  <a:pt x="72687" y="0"/>
                </a:moveTo>
                <a:lnTo>
                  <a:pt x="11383432" y="0"/>
                </a:lnTo>
                <a:cubicBezTo>
                  <a:pt x="11423576" y="0"/>
                  <a:pt x="11456119" y="32543"/>
                  <a:pt x="11456119" y="72687"/>
                </a:cubicBezTo>
                <a:lnTo>
                  <a:pt x="11456119" y="2452928"/>
                </a:lnTo>
                <a:cubicBezTo>
                  <a:pt x="11456119" y="2493072"/>
                  <a:pt x="11423576" y="2525615"/>
                  <a:pt x="11383432" y="2525615"/>
                </a:cubicBezTo>
                <a:lnTo>
                  <a:pt x="72687" y="2525615"/>
                </a:lnTo>
                <a:cubicBezTo>
                  <a:pt x="32543" y="2525615"/>
                  <a:pt x="0" y="2493072"/>
                  <a:pt x="0" y="2452928"/>
                </a:cubicBezTo>
                <a:lnTo>
                  <a:pt x="0" y="72687"/>
                </a:lnTo>
                <a:cubicBezTo>
                  <a:pt x="0" y="32570"/>
                  <a:pt x="32570" y="0"/>
                  <a:pt x="72687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Google Shape;372;p 5"/>
          <p:cNvSpPr/>
          <p:nvPr/>
        </p:nvSpPr>
        <p:spPr>
          <a:xfrm>
            <a:off x="228600" y="914400"/>
            <a:ext cx="10972800" cy="5486400"/>
          </a:xfrm>
          <a:custGeom>
            <a:avLst/>
            <a:gdLst>
              <a:gd name="textAreaLeft" fmla="*/ 0 w 10972800"/>
              <a:gd name="textAreaRight" fmla="*/ 10973160 w 10972800"/>
              <a:gd name="textAreaTop" fmla="*/ 0 h 5486400"/>
              <a:gd name="textAreaBottom" fmla="*/ 5486760 h 5486400"/>
            </a:gdLst>
            <a:ahLst/>
            <a:rect l="textAreaLeft" t="textAreaTop" r="textAreaRight" b="textAreaBottom"/>
            <a:pathLst>
              <a:path w="11456119" h="2525615">
                <a:moveTo>
                  <a:pt x="72687" y="0"/>
                </a:moveTo>
                <a:lnTo>
                  <a:pt x="11383432" y="0"/>
                </a:lnTo>
                <a:cubicBezTo>
                  <a:pt x="11423576" y="0"/>
                  <a:pt x="11456119" y="32543"/>
                  <a:pt x="11456119" y="72687"/>
                </a:cubicBezTo>
                <a:lnTo>
                  <a:pt x="11456119" y="2452928"/>
                </a:lnTo>
                <a:cubicBezTo>
                  <a:pt x="11456119" y="2493072"/>
                  <a:pt x="11423576" y="2525615"/>
                  <a:pt x="11383432" y="2525615"/>
                </a:cubicBezTo>
                <a:lnTo>
                  <a:pt x="72687" y="2525615"/>
                </a:lnTo>
                <a:cubicBezTo>
                  <a:pt x="32543" y="2525615"/>
                  <a:pt x="0" y="2493072"/>
                  <a:pt x="0" y="2452928"/>
                </a:cubicBezTo>
                <a:lnTo>
                  <a:pt x="0" y="72687"/>
                </a:lnTo>
                <a:cubicBezTo>
                  <a:pt x="0" y="32570"/>
                  <a:pt x="32570" y="0"/>
                  <a:pt x="72687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369;p 1"/>
          <p:cNvSpPr/>
          <p:nvPr/>
        </p:nvSpPr>
        <p:spPr>
          <a:xfrm>
            <a:off x="363240" y="363240"/>
            <a:ext cx="11536920" cy="21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15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Comparative Analysis</a:t>
            </a:r>
            <a:endParaRPr b="0" lang="en-US" sz="11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7" name="Google Shape;370;p 1"/>
          <p:cNvSpPr/>
          <p:nvPr/>
        </p:nvSpPr>
        <p:spPr>
          <a:xfrm>
            <a:off x="363240" y="654120"/>
            <a:ext cx="116276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-US" sz="2570" spc="-1" strike="noStrike">
                <a:solidFill>
                  <a:srgbClr val="e8e8e8"/>
                </a:solidFill>
                <a:latin typeface="Liter"/>
                <a:ea typeface="Liter"/>
              </a:rPr>
              <a:t>Results: Architectural </a:t>
            </a:r>
            <a:r>
              <a:rPr b="1" lang="en-US" sz="2570" spc="-1" strike="noStrike">
                <a:solidFill>
                  <a:srgbClr val="e8e8e8"/>
                </a:solidFill>
                <a:latin typeface="Liter"/>
                <a:ea typeface="Liter"/>
              </a:rPr>
              <a:t>Performance Comparison</a:t>
            </a:r>
            <a:endParaRPr b="0" lang="en-US" sz="257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Google Shape;371;p 1"/>
          <p:cNvSpPr/>
          <p:nvPr/>
        </p:nvSpPr>
        <p:spPr>
          <a:xfrm>
            <a:off x="363240" y="1126440"/>
            <a:ext cx="871200" cy="35280"/>
          </a:xfrm>
          <a:custGeom>
            <a:avLst/>
            <a:gdLst>
              <a:gd name="textAreaLeft" fmla="*/ 0 w 871200"/>
              <a:gd name="textAreaRight" fmla="*/ 871560 w 871200"/>
              <a:gd name="textAreaTop" fmla="*/ 0 h 35280"/>
              <a:gd name="textAreaBottom" fmla="*/ 35640 h 35280"/>
            </a:gdLst>
            <a:ahLst/>
            <a:rect l="textAreaLeft" t="textAreaTop" r="textAreaRight" b="textAreaBottom"/>
            <a:pathLst>
              <a:path w="872155" h="36340">
                <a:moveTo>
                  <a:pt x="0" y="0"/>
                </a:moveTo>
                <a:lnTo>
                  <a:pt x="872155" y="0"/>
                </a:lnTo>
                <a:lnTo>
                  <a:pt x="872155" y="36340"/>
                </a:lnTo>
                <a:lnTo>
                  <a:pt x="0" y="3634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9" name="Google Shape;372;p 1"/>
          <p:cNvSpPr/>
          <p:nvPr/>
        </p:nvSpPr>
        <p:spPr>
          <a:xfrm>
            <a:off x="367920" y="1312920"/>
            <a:ext cx="11455200" cy="5087880"/>
          </a:xfrm>
          <a:custGeom>
            <a:avLst/>
            <a:gdLst>
              <a:gd name="textAreaLeft" fmla="*/ 0 w 11455200"/>
              <a:gd name="textAreaRight" fmla="*/ 11455560 w 11455200"/>
              <a:gd name="textAreaTop" fmla="*/ 0 h 5087880"/>
              <a:gd name="textAreaBottom" fmla="*/ 5088240 h 5087880"/>
            </a:gdLst>
            <a:ahLst/>
            <a:rect l="textAreaLeft" t="textAreaTop" r="textAreaRight" b="textAreaBottom"/>
            <a:pathLst>
              <a:path w="11456119" h="2525615">
                <a:moveTo>
                  <a:pt x="72687" y="0"/>
                </a:moveTo>
                <a:lnTo>
                  <a:pt x="11383432" y="0"/>
                </a:lnTo>
                <a:cubicBezTo>
                  <a:pt x="11423576" y="0"/>
                  <a:pt x="11456119" y="32543"/>
                  <a:pt x="11456119" y="72687"/>
                </a:cubicBezTo>
                <a:lnTo>
                  <a:pt x="11456119" y="2452928"/>
                </a:lnTo>
                <a:cubicBezTo>
                  <a:pt x="11456119" y="2493072"/>
                  <a:pt x="11423576" y="2525615"/>
                  <a:pt x="11383432" y="2525615"/>
                </a:cubicBezTo>
                <a:lnTo>
                  <a:pt x="72687" y="2525615"/>
                </a:lnTo>
                <a:cubicBezTo>
                  <a:pt x="32543" y="2525615"/>
                  <a:pt x="0" y="2493072"/>
                  <a:pt x="0" y="2452928"/>
                </a:cubicBezTo>
                <a:lnTo>
                  <a:pt x="0" y="72687"/>
                </a:lnTo>
                <a:cubicBezTo>
                  <a:pt x="0" y="32570"/>
                  <a:pt x="32570" y="0"/>
                  <a:pt x="72687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graphicFrame>
        <p:nvGraphicFramePr>
          <p:cNvPr id="280" name=""/>
          <p:cNvGraphicFramePr/>
          <p:nvPr/>
        </p:nvGraphicFramePr>
        <p:xfrm>
          <a:off x="601200" y="1429920"/>
          <a:ext cx="9914400" cy="2000880"/>
        </p:xfrm>
        <a:graphic>
          <a:graphicData uri="http://schemas.openxmlformats.org/drawingml/2006/table">
            <a:tbl>
              <a:tblPr/>
              <a:tblGrid>
                <a:gridCol w="1952640"/>
                <a:gridCol w="1351800"/>
                <a:gridCol w="1652400"/>
                <a:gridCol w="1652400"/>
                <a:gridCol w="1652400"/>
                <a:gridCol w="1652760"/>
              </a:tblGrid>
              <a:tr h="82080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MobileNetV3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ResNet50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EfficientNetV2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CustomCNN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AttentionCNN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1180440"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Accuracy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0.8175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0.8715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0.8715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0.7932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tIns="36000" bIns="36000" anchor="t">
                      <a:noAutofit/>
                    </a:bodyPr>
                    <a:p>
                      <a:r>
                        <a:rPr b="0" lang="en-US" sz="1800" spc="-1" strike="noStrike">
                          <a:solidFill>
                            <a:srgbClr val="ffffff"/>
                          </a:solidFill>
                          <a:latin typeface="Arial"/>
                        </a:rPr>
                        <a:t>0.8318</a:t>
                      </a:r>
                      <a:endParaRPr b="0" lang="en-US" sz="18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t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transition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443;p8"/>
          <p:cNvSpPr/>
          <p:nvPr/>
        </p:nvSpPr>
        <p:spPr>
          <a:xfrm>
            <a:off x="74520" y="228600"/>
            <a:ext cx="5640480" cy="6172200"/>
          </a:xfrm>
          <a:custGeom>
            <a:avLst/>
            <a:gdLst>
              <a:gd name="textAreaLeft" fmla="*/ 0 w 5640480"/>
              <a:gd name="textAreaRight" fmla="*/ 5640840 w 5640480"/>
              <a:gd name="textAreaTop" fmla="*/ 0 h 6172200"/>
              <a:gd name="textAreaBottom" fmla="*/ 6172560 h 6172200"/>
            </a:gdLst>
            <a:ahLst/>
            <a:rect l="textAreaLeft" t="textAreaTop" r="textAreaRight" b="textAreaBottom"/>
            <a:pathLst>
              <a:path w="5641494" h="4882423">
                <a:moveTo>
                  <a:pt x="74994" y="0"/>
                </a:moveTo>
                <a:lnTo>
                  <a:pt x="5566500" y="0"/>
                </a:lnTo>
                <a:cubicBezTo>
                  <a:pt x="5607918" y="0"/>
                  <a:pt x="5641494" y="33576"/>
                  <a:pt x="5641494" y="74994"/>
                </a:cubicBezTo>
                <a:lnTo>
                  <a:pt x="5641494" y="4807429"/>
                </a:lnTo>
                <a:cubicBezTo>
                  <a:pt x="5641494" y="4848847"/>
                  <a:pt x="5607918" y="4882423"/>
                  <a:pt x="5566500" y="4882423"/>
                </a:cubicBezTo>
                <a:lnTo>
                  <a:pt x="74994" y="4882423"/>
                </a:lnTo>
                <a:cubicBezTo>
                  <a:pt x="33576" y="4882423"/>
                  <a:pt x="0" y="4848847"/>
                  <a:pt x="0" y="4807429"/>
                </a:cubicBezTo>
                <a:lnTo>
                  <a:pt x="0" y="74994"/>
                </a:lnTo>
                <a:cubicBezTo>
                  <a:pt x="0" y="33604"/>
                  <a:pt x="33604" y="0"/>
                  <a:pt x="74994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Google Shape;444;p8"/>
          <p:cNvSpPr/>
          <p:nvPr/>
        </p:nvSpPr>
        <p:spPr>
          <a:xfrm>
            <a:off x="224640" y="228600"/>
            <a:ext cx="549036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30" spc="-1" strike="noStrike">
                <a:solidFill>
                  <a:srgbClr val="e8e8e8"/>
                </a:solidFill>
                <a:latin typeface="Liter"/>
                <a:ea typeface="Liter"/>
              </a:rPr>
              <a:t>Gradcam++ prediction</a:t>
            </a:r>
            <a:endParaRPr b="0" lang="en-US" sz="13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3" name="" descr=""/>
          <p:cNvPicPr/>
          <p:nvPr/>
        </p:nvPicPr>
        <p:blipFill>
          <a:blip r:embed="rId1"/>
          <a:stretch/>
        </p:blipFill>
        <p:spPr>
          <a:xfrm>
            <a:off x="219600" y="685800"/>
            <a:ext cx="5266800" cy="548640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443;p 1"/>
          <p:cNvSpPr/>
          <p:nvPr/>
        </p:nvSpPr>
        <p:spPr>
          <a:xfrm>
            <a:off x="74520" y="228600"/>
            <a:ext cx="11812680" cy="6400800"/>
          </a:xfrm>
          <a:custGeom>
            <a:avLst/>
            <a:gdLst>
              <a:gd name="textAreaLeft" fmla="*/ 0 w 11812680"/>
              <a:gd name="textAreaRight" fmla="*/ 11813040 w 11812680"/>
              <a:gd name="textAreaTop" fmla="*/ 0 h 6400800"/>
              <a:gd name="textAreaBottom" fmla="*/ 6401160 h 6400800"/>
            </a:gdLst>
            <a:ahLst/>
            <a:rect l="textAreaLeft" t="textAreaTop" r="textAreaRight" b="textAreaBottom"/>
            <a:pathLst>
              <a:path w="5641494" h="4882423">
                <a:moveTo>
                  <a:pt x="74994" y="0"/>
                </a:moveTo>
                <a:lnTo>
                  <a:pt x="5566500" y="0"/>
                </a:lnTo>
                <a:cubicBezTo>
                  <a:pt x="5607918" y="0"/>
                  <a:pt x="5641494" y="33576"/>
                  <a:pt x="5641494" y="74994"/>
                </a:cubicBezTo>
                <a:lnTo>
                  <a:pt x="5641494" y="4807429"/>
                </a:lnTo>
                <a:cubicBezTo>
                  <a:pt x="5641494" y="4848847"/>
                  <a:pt x="5607918" y="4882423"/>
                  <a:pt x="5566500" y="4882423"/>
                </a:cubicBezTo>
                <a:lnTo>
                  <a:pt x="74994" y="4882423"/>
                </a:lnTo>
                <a:cubicBezTo>
                  <a:pt x="33576" y="4882423"/>
                  <a:pt x="0" y="4848847"/>
                  <a:pt x="0" y="4807429"/>
                </a:cubicBezTo>
                <a:lnTo>
                  <a:pt x="0" y="74994"/>
                </a:lnTo>
                <a:cubicBezTo>
                  <a:pt x="0" y="33604"/>
                  <a:pt x="33604" y="0"/>
                  <a:pt x="74994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5" name="Google Shape;444;p 1"/>
          <p:cNvSpPr/>
          <p:nvPr/>
        </p:nvSpPr>
        <p:spPr>
          <a:xfrm>
            <a:off x="224640" y="228600"/>
            <a:ext cx="5490360" cy="26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330" spc="-1" strike="noStrike">
                <a:solidFill>
                  <a:srgbClr val="e8e8e8"/>
                </a:solidFill>
                <a:latin typeface="Liter"/>
                <a:ea typeface="Liter"/>
              </a:rPr>
              <a:t>Second dataset overview </a:t>
            </a:r>
            <a:endParaRPr b="0" lang="en-US" sz="133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86" name="" descr=""/>
          <p:cNvPicPr/>
          <p:nvPr/>
        </p:nvPicPr>
        <p:blipFill>
          <a:blip r:embed="rId1"/>
          <a:stretch/>
        </p:blipFill>
        <p:spPr>
          <a:xfrm>
            <a:off x="228600" y="978840"/>
            <a:ext cx="11201400" cy="491292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396;p7"/>
          <p:cNvSpPr/>
          <p:nvPr/>
        </p:nvSpPr>
        <p:spPr>
          <a:xfrm>
            <a:off x="380880" y="380880"/>
            <a:ext cx="11505240" cy="227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20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Generablity comparisons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Google Shape;397;p7"/>
          <p:cNvSpPr/>
          <p:nvPr/>
        </p:nvSpPr>
        <p:spPr>
          <a:xfrm>
            <a:off x="380880" y="647640"/>
            <a:ext cx="1160028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90000"/>
              </a:lnSpc>
              <a:tabLst>
                <a:tab algn="l" pos="0"/>
              </a:tabLst>
            </a:pPr>
            <a:r>
              <a:rPr b="1" lang="en-US" sz="2700" spc="-1" strike="noStrike">
                <a:solidFill>
                  <a:srgbClr val="e8e8e8"/>
                </a:solidFill>
                <a:latin typeface="Liter"/>
                <a:ea typeface="Liter"/>
              </a:rPr>
              <a:t>Results: Confusion Matrices &amp; Analysis</a:t>
            </a:r>
            <a:endParaRPr b="0" lang="en-US" sz="2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9" name="Google Shape;398;p7"/>
          <p:cNvSpPr/>
          <p:nvPr/>
        </p:nvSpPr>
        <p:spPr>
          <a:xfrm>
            <a:off x="380880" y="1104840"/>
            <a:ext cx="913320" cy="37080"/>
          </a:xfrm>
          <a:custGeom>
            <a:avLst/>
            <a:gdLst>
              <a:gd name="textAreaLeft" fmla="*/ 0 w 913320"/>
              <a:gd name="textAreaRight" fmla="*/ 913680 w 913320"/>
              <a:gd name="textAreaTop" fmla="*/ 0 h 37080"/>
              <a:gd name="textAreaBottom" fmla="*/ 37440 h 37080"/>
            </a:gdLst>
            <a:ahLst/>
            <a:rect l="textAreaLeft" t="textAreaTop" r="textAreaRight" b="textAreaBottom"/>
            <a:pathLst>
              <a:path w="914400" h="38100">
                <a:moveTo>
                  <a:pt x="0" y="0"/>
                </a:moveTo>
                <a:lnTo>
                  <a:pt x="914400" y="0"/>
                </a:lnTo>
                <a:lnTo>
                  <a:pt x="914400" y="38100"/>
                </a:lnTo>
                <a:lnTo>
                  <a:pt x="0" y="38100"/>
                </a:lnTo>
                <a:lnTo>
                  <a:pt x="0" y="0"/>
                </a:lnTo>
                <a:close/>
              </a:path>
            </a:pathLst>
          </a:custGeom>
          <a:solidFill>
            <a:srgbClr val="d4a26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0" bIns="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0" name="Google Shape;399;p7"/>
          <p:cNvSpPr/>
          <p:nvPr/>
        </p:nvSpPr>
        <p:spPr>
          <a:xfrm>
            <a:off x="385920" y="1224000"/>
            <a:ext cx="9901080" cy="5405400"/>
          </a:xfrm>
          <a:custGeom>
            <a:avLst/>
            <a:gdLst>
              <a:gd name="textAreaLeft" fmla="*/ 0 w 9901080"/>
              <a:gd name="textAreaRight" fmla="*/ 9901440 w 9901080"/>
              <a:gd name="textAreaTop" fmla="*/ 0 h 5405400"/>
              <a:gd name="textAreaBottom" fmla="*/ 5405760 h 5405400"/>
            </a:gdLst>
            <a:ahLst/>
            <a:rect l="textAreaLeft" t="textAreaTop" r="textAreaRight" b="textAreaBottom"/>
            <a:pathLst>
              <a:path w="6791325" h="4581525">
                <a:moveTo>
                  <a:pt x="76191" y="0"/>
                </a:moveTo>
                <a:lnTo>
                  <a:pt x="6715134" y="0"/>
                </a:lnTo>
                <a:cubicBezTo>
                  <a:pt x="6757213" y="0"/>
                  <a:pt x="6791325" y="34112"/>
                  <a:pt x="6791325" y="76191"/>
                </a:cubicBezTo>
                <a:lnTo>
                  <a:pt x="6791325" y="4505334"/>
                </a:lnTo>
                <a:cubicBezTo>
                  <a:pt x="6791325" y="4547413"/>
                  <a:pt x="6757213" y="4581525"/>
                  <a:pt x="6715134" y="4581525"/>
                </a:cubicBezTo>
                <a:lnTo>
                  <a:pt x="76191" y="4581525"/>
                </a:lnTo>
                <a:cubicBezTo>
                  <a:pt x="34112" y="4581525"/>
                  <a:pt x="0" y="4547413"/>
                  <a:pt x="0" y="4505334"/>
                </a:cubicBezTo>
                <a:lnTo>
                  <a:pt x="0" y="76191"/>
                </a:lnTo>
                <a:cubicBezTo>
                  <a:pt x="0" y="34140"/>
                  <a:pt x="34140" y="0"/>
                  <a:pt x="76191" y="0"/>
                </a:cubicBezTo>
                <a:close/>
              </a:path>
            </a:pathLst>
          </a:custGeom>
          <a:solidFill>
            <a:srgbClr val="4a6c82">
              <a:alpha val="15000"/>
            </a:srgbClr>
          </a:solidFill>
          <a:ln w="12700">
            <a:solidFill>
              <a:srgbClr val="4a6c82">
                <a:alpha val="40000"/>
              </a:srgbClr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1" name="" descr=""/>
          <p:cNvPicPr/>
          <p:nvPr/>
        </p:nvPicPr>
        <p:blipFill>
          <a:blip r:embed="rId1"/>
          <a:stretch/>
        </p:blipFill>
        <p:spPr>
          <a:xfrm rot="15600">
            <a:off x="780840" y="1391400"/>
            <a:ext cx="8748000" cy="521820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490;p9"/>
          <p:cNvSpPr/>
          <p:nvPr/>
        </p:nvSpPr>
        <p:spPr>
          <a:xfrm>
            <a:off x="374760" y="374760"/>
            <a:ext cx="11516040" cy="223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30000"/>
              </a:lnSpc>
              <a:tabLst>
                <a:tab algn="l" pos="0"/>
              </a:tabLst>
            </a:pPr>
            <a:r>
              <a:rPr b="1" lang="en-US" sz="1180" spc="-1" strike="noStrike">
                <a:solidFill>
                  <a:srgbClr val="d4a26a"/>
                </a:solidFill>
                <a:latin typeface="Quattrocento Sans"/>
                <a:ea typeface="Quattrocento Sans"/>
              </a:rPr>
              <a:t>Diagnostic Performance: confusion matrics comparisons</a:t>
            </a:r>
            <a:endParaRPr b="0" lang="en-US" sz="118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93" name="" descr=""/>
          <p:cNvPicPr/>
          <p:nvPr/>
        </p:nvPicPr>
        <p:blipFill>
          <a:blip r:embed="rId1"/>
          <a:stretch/>
        </p:blipFill>
        <p:spPr>
          <a:xfrm>
            <a:off x="457200" y="686160"/>
            <a:ext cx="5486400" cy="5028840"/>
          </a:xfrm>
          <a:prstGeom prst="rect">
            <a:avLst/>
          </a:prstGeom>
          <a:ln w="0">
            <a:noFill/>
          </a:ln>
        </p:spPr>
      </p:pic>
      <p:pic>
        <p:nvPicPr>
          <p:cNvPr id="294" name="" descr=""/>
          <p:cNvPicPr/>
          <p:nvPr/>
        </p:nvPicPr>
        <p:blipFill>
          <a:blip r:embed="rId2"/>
          <a:stretch/>
        </p:blipFill>
        <p:spPr>
          <a:xfrm>
            <a:off x="6629400" y="598680"/>
            <a:ext cx="5276520" cy="5121000"/>
          </a:xfrm>
          <a:prstGeom prst="rect">
            <a:avLst/>
          </a:prstGeom>
          <a:ln w="0">
            <a:noFill/>
          </a:ln>
        </p:spPr>
      </p:pic>
    </p:spTree>
  </p:cSld>
  <p:transition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675;g3e019baf557_0_87"/>
          <p:cNvSpPr/>
          <p:nvPr/>
        </p:nvSpPr>
        <p:spPr>
          <a:xfrm>
            <a:off x="6366600" y="1992960"/>
            <a:ext cx="25326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2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6" name="Google Shape;676;g3e019baf557_0_87"/>
          <p:cNvSpPr/>
          <p:nvPr/>
        </p:nvSpPr>
        <p:spPr>
          <a:xfrm>
            <a:off x="9064080" y="1686240"/>
            <a:ext cx="2670480" cy="677520"/>
          </a:xfrm>
          <a:custGeom>
            <a:avLst/>
            <a:gdLst>
              <a:gd name="textAreaLeft" fmla="*/ 0 w 2670480"/>
              <a:gd name="textAreaRight" fmla="*/ 2670840 w 2670480"/>
              <a:gd name="textAreaTop" fmla="*/ 0 h 677520"/>
              <a:gd name="textAreaBottom" fmla="*/ 677880 h 677520"/>
            </a:gdLst>
            <a:ahLst/>
            <a:rect l="textAreaLeft" t="textAreaTop" r="textAreaRight" b="textAreaBottom"/>
            <a:pathLst>
              <a:path w="2670782" h="677782">
                <a:moveTo>
                  <a:pt x="64552" y="0"/>
                </a:moveTo>
                <a:lnTo>
                  <a:pt x="2606230" y="0"/>
                </a:lnTo>
                <a:cubicBezTo>
                  <a:pt x="2641881" y="0"/>
                  <a:pt x="2670782" y="28901"/>
                  <a:pt x="2670782" y="64552"/>
                </a:cubicBezTo>
                <a:lnTo>
                  <a:pt x="2670782" y="613230"/>
                </a:lnTo>
                <a:cubicBezTo>
                  <a:pt x="2670782" y="648881"/>
                  <a:pt x="2641881" y="677782"/>
                  <a:pt x="2606230" y="677782"/>
                </a:cubicBezTo>
                <a:lnTo>
                  <a:pt x="64552" y="677782"/>
                </a:lnTo>
                <a:cubicBezTo>
                  <a:pt x="28901" y="677782"/>
                  <a:pt x="0" y="648881"/>
                  <a:pt x="0" y="613230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Google Shape;677;g3e019baf557_0_87"/>
          <p:cNvSpPr/>
          <p:nvPr/>
        </p:nvSpPr>
        <p:spPr>
          <a:xfrm>
            <a:off x="9064080" y="2460960"/>
            <a:ext cx="2670480" cy="677520"/>
          </a:xfrm>
          <a:custGeom>
            <a:avLst/>
            <a:gdLst>
              <a:gd name="textAreaLeft" fmla="*/ 0 w 2670480"/>
              <a:gd name="textAreaRight" fmla="*/ 2670840 w 2670480"/>
              <a:gd name="textAreaTop" fmla="*/ 0 h 677520"/>
              <a:gd name="textAreaBottom" fmla="*/ 677880 h 677520"/>
            </a:gdLst>
            <a:ahLst/>
            <a:rect l="textAreaLeft" t="textAreaTop" r="textAreaRight" b="textAreaBottom"/>
            <a:pathLst>
              <a:path w="2670782" h="677782">
                <a:moveTo>
                  <a:pt x="64552" y="0"/>
                </a:moveTo>
                <a:lnTo>
                  <a:pt x="2606230" y="0"/>
                </a:lnTo>
                <a:cubicBezTo>
                  <a:pt x="2641881" y="0"/>
                  <a:pt x="2670782" y="28901"/>
                  <a:pt x="2670782" y="64552"/>
                </a:cubicBezTo>
                <a:lnTo>
                  <a:pt x="2670782" y="613230"/>
                </a:lnTo>
                <a:cubicBezTo>
                  <a:pt x="2670782" y="648881"/>
                  <a:pt x="2641881" y="677782"/>
                  <a:pt x="2606230" y="677782"/>
                </a:cubicBezTo>
                <a:lnTo>
                  <a:pt x="64552" y="677782"/>
                </a:lnTo>
                <a:cubicBezTo>
                  <a:pt x="28901" y="677782"/>
                  <a:pt x="0" y="648881"/>
                  <a:pt x="0" y="613230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Google Shape;678;g3e019baf557_0_87"/>
          <p:cNvSpPr/>
          <p:nvPr/>
        </p:nvSpPr>
        <p:spPr>
          <a:xfrm>
            <a:off x="6298200" y="4591080"/>
            <a:ext cx="5438160" cy="546840"/>
          </a:xfrm>
          <a:custGeom>
            <a:avLst/>
            <a:gdLst>
              <a:gd name="textAreaLeft" fmla="*/ 0 w 5438160"/>
              <a:gd name="textAreaRight" fmla="*/ 5438520 w 5438160"/>
              <a:gd name="textAreaTop" fmla="*/ 0 h 546840"/>
              <a:gd name="textAreaBottom" fmla="*/ 547200 h 546840"/>
            </a:gdLst>
            <a:ahLst/>
            <a:rect l="textAreaLeft" t="textAreaTop" r="textAreaRight" b="textAreaBottom"/>
            <a:pathLst>
              <a:path w="5438390" h="548680">
                <a:moveTo>
                  <a:pt x="64552" y="0"/>
                </a:moveTo>
                <a:lnTo>
                  <a:pt x="5373838" y="0"/>
                </a:lnTo>
                <a:cubicBezTo>
                  <a:pt x="5409489" y="0"/>
                  <a:pt x="5438390" y="28901"/>
                  <a:pt x="5438390" y="64552"/>
                </a:cubicBezTo>
                <a:lnTo>
                  <a:pt x="5438390" y="484128"/>
                </a:lnTo>
                <a:cubicBezTo>
                  <a:pt x="5438390" y="519779"/>
                  <a:pt x="5409489" y="548680"/>
                  <a:pt x="5373838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9" name="Google Shape;679;g3e019baf557_0_87"/>
          <p:cNvSpPr/>
          <p:nvPr/>
        </p:nvSpPr>
        <p:spPr>
          <a:xfrm>
            <a:off x="6298200" y="5204520"/>
            <a:ext cx="5438160" cy="546840"/>
          </a:xfrm>
          <a:custGeom>
            <a:avLst/>
            <a:gdLst>
              <a:gd name="textAreaLeft" fmla="*/ 0 w 5438160"/>
              <a:gd name="textAreaRight" fmla="*/ 5438520 w 5438160"/>
              <a:gd name="textAreaTop" fmla="*/ 0 h 546840"/>
              <a:gd name="textAreaBottom" fmla="*/ 547200 h 546840"/>
            </a:gdLst>
            <a:ahLst/>
            <a:rect l="textAreaLeft" t="textAreaTop" r="textAreaRight" b="textAreaBottom"/>
            <a:pathLst>
              <a:path w="5438390" h="548680">
                <a:moveTo>
                  <a:pt x="64552" y="0"/>
                </a:moveTo>
                <a:lnTo>
                  <a:pt x="5373838" y="0"/>
                </a:lnTo>
                <a:cubicBezTo>
                  <a:pt x="5409489" y="0"/>
                  <a:pt x="5438390" y="28901"/>
                  <a:pt x="5438390" y="64552"/>
                </a:cubicBezTo>
                <a:lnTo>
                  <a:pt x="5438390" y="484128"/>
                </a:lnTo>
                <a:cubicBezTo>
                  <a:pt x="5438390" y="519779"/>
                  <a:pt x="5409489" y="548680"/>
                  <a:pt x="5373838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Google Shape;680;g3e019baf557_0_87"/>
          <p:cNvSpPr/>
          <p:nvPr/>
        </p:nvSpPr>
        <p:spPr>
          <a:xfrm>
            <a:off x="6298200" y="5817600"/>
            <a:ext cx="5438160" cy="546840"/>
          </a:xfrm>
          <a:custGeom>
            <a:avLst/>
            <a:gdLst>
              <a:gd name="textAreaLeft" fmla="*/ 0 w 5438160"/>
              <a:gd name="textAreaRight" fmla="*/ 5438520 w 5438160"/>
              <a:gd name="textAreaTop" fmla="*/ 0 h 546840"/>
              <a:gd name="textAreaBottom" fmla="*/ 547200 h 546840"/>
            </a:gdLst>
            <a:ahLst/>
            <a:rect l="textAreaLeft" t="textAreaTop" r="textAreaRight" b="textAreaBottom"/>
            <a:pathLst>
              <a:path w="5438390" h="548680">
                <a:moveTo>
                  <a:pt x="64552" y="0"/>
                </a:moveTo>
                <a:lnTo>
                  <a:pt x="5373838" y="0"/>
                </a:lnTo>
                <a:cubicBezTo>
                  <a:pt x="5409489" y="0"/>
                  <a:pt x="5438390" y="28901"/>
                  <a:pt x="5438390" y="64552"/>
                </a:cubicBezTo>
                <a:lnTo>
                  <a:pt x="5438390" y="484128"/>
                </a:lnTo>
                <a:cubicBezTo>
                  <a:pt x="5438390" y="519779"/>
                  <a:pt x="5409489" y="548680"/>
                  <a:pt x="5373838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Google Shape;681;g3e019baf557_0_87"/>
          <p:cNvSpPr/>
          <p:nvPr/>
        </p:nvSpPr>
        <p:spPr>
          <a:xfrm>
            <a:off x="322920" y="581040"/>
            <a:ext cx="1173924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en-US" sz="3050" spc="-1" strike="noStrike">
                <a:solidFill>
                  <a:srgbClr val="e8e8e8"/>
                </a:solidFill>
                <a:latin typeface="Liter"/>
                <a:ea typeface="Liter"/>
              </a:rPr>
              <a:t>Github link</a:t>
            </a:r>
            <a:endParaRPr b="0" lang="en-US" sz="3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Google Shape;682;g3e019baf557_0_87"/>
          <p:cNvSpPr/>
          <p:nvPr/>
        </p:nvSpPr>
        <p:spPr>
          <a:xfrm>
            <a:off x="204840" y="1121400"/>
            <a:ext cx="716148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"/>
              </a:rPr>
              <a:t>https://github.com/2021-3-60-089-art/BrainTumorMiniProject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3" name="Google Shape;683;g3e019baf557_0_87"/>
          <p:cNvSpPr/>
          <p:nvPr/>
        </p:nvSpPr>
        <p:spPr>
          <a:xfrm>
            <a:off x="322920" y="1675080"/>
            <a:ext cx="1173924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en-US" sz="3050" spc="-1" strike="noStrike">
                <a:solidFill>
                  <a:srgbClr val="e8e8e8"/>
                </a:solidFill>
                <a:latin typeface="Liter"/>
                <a:ea typeface="Liter"/>
              </a:rPr>
              <a:t>Dataset link</a:t>
            </a:r>
            <a:endParaRPr b="0" lang="en-US" sz="3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4" name="Google Shape;684;g3e019baf557_0_87"/>
          <p:cNvSpPr/>
          <p:nvPr/>
        </p:nvSpPr>
        <p:spPr>
          <a:xfrm>
            <a:off x="204840" y="2215080"/>
            <a:ext cx="1004724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400" spc="-1" strike="noStrike">
                <a:solidFill>
                  <a:schemeClr val="lt1"/>
                </a:solidFill>
                <a:latin typeface="Arial"/>
                <a:ea typeface="Arial"/>
              </a:rPr>
              <a:t>Original dataset: https://www.kaggle.com/datasets/fernando2rad/brain-tumor-mri-images-44c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5" name=""/>
          <p:cNvSpPr txBox="1"/>
          <p:nvPr/>
        </p:nvSpPr>
        <p:spPr>
          <a:xfrm>
            <a:off x="228600" y="2743200"/>
            <a:ext cx="7892280" cy="602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Generablit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y testing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dataset: 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https://ww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w.kaggle.c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om/dataset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s/masoudn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ickparvar/b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rain-tumor-</a:t>
            </a:r>
            <a:r>
              <a:rPr b="0" lang="en-US" sz="1800" spc="-1" strike="noStrike">
                <a:solidFill>
                  <a:srgbClr val="ffffff"/>
                </a:solidFill>
                <a:latin typeface="Arial"/>
              </a:rPr>
              <a:t>mri-dataset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d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675;g3e019baf557_0_ 1"/>
          <p:cNvSpPr/>
          <p:nvPr/>
        </p:nvSpPr>
        <p:spPr>
          <a:xfrm>
            <a:off x="6366600" y="1992960"/>
            <a:ext cx="2532600" cy="160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7" name="Google Shape;676;g3e019baf557_0_ 1"/>
          <p:cNvSpPr/>
          <p:nvPr/>
        </p:nvSpPr>
        <p:spPr>
          <a:xfrm>
            <a:off x="9064080" y="1686240"/>
            <a:ext cx="2670480" cy="677520"/>
          </a:xfrm>
          <a:custGeom>
            <a:avLst/>
            <a:gdLst>
              <a:gd name="textAreaLeft" fmla="*/ 0 w 2670480"/>
              <a:gd name="textAreaRight" fmla="*/ 2670840 w 2670480"/>
              <a:gd name="textAreaTop" fmla="*/ 0 h 677520"/>
              <a:gd name="textAreaBottom" fmla="*/ 677880 h 677520"/>
            </a:gdLst>
            <a:ahLst/>
            <a:rect l="textAreaLeft" t="textAreaTop" r="textAreaRight" b="textAreaBottom"/>
            <a:pathLst>
              <a:path w="2670782" h="677782">
                <a:moveTo>
                  <a:pt x="64552" y="0"/>
                </a:moveTo>
                <a:lnTo>
                  <a:pt x="2606230" y="0"/>
                </a:lnTo>
                <a:cubicBezTo>
                  <a:pt x="2641881" y="0"/>
                  <a:pt x="2670782" y="28901"/>
                  <a:pt x="2670782" y="64552"/>
                </a:cubicBezTo>
                <a:lnTo>
                  <a:pt x="2670782" y="613230"/>
                </a:lnTo>
                <a:cubicBezTo>
                  <a:pt x="2670782" y="648881"/>
                  <a:pt x="2641881" y="677782"/>
                  <a:pt x="2606230" y="677782"/>
                </a:cubicBezTo>
                <a:lnTo>
                  <a:pt x="64552" y="677782"/>
                </a:lnTo>
                <a:cubicBezTo>
                  <a:pt x="28901" y="677782"/>
                  <a:pt x="0" y="648881"/>
                  <a:pt x="0" y="613230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8" name="Google Shape;677;g3e019baf557_0_ 1"/>
          <p:cNvSpPr/>
          <p:nvPr/>
        </p:nvSpPr>
        <p:spPr>
          <a:xfrm>
            <a:off x="9064080" y="2460960"/>
            <a:ext cx="2670480" cy="677520"/>
          </a:xfrm>
          <a:custGeom>
            <a:avLst/>
            <a:gdLst>
              <a:gd name="textAreaLeft" fmla="*/ 0 w 2670480"/>
              <a:gd name="textAreaRight" fmla="*/ 2670840 w 2670480"/>
              <a:gd name="textAreaTop" fmla="*/ 0 h 677520"/>
              <a:gd name="textAreaBottom" fmla="*/ 677880 h 677520"/>
            </a:gdLst>
            <a:ahLst/>
            <a:rect l="textAreaLeft" t="textAreaTop" r="textAreaRight" b="textAreaBottom"/>
            <a:pathLst>
              <a:path w="2670782" h="677782">
                <a:moveTo>
                  <a:pt x="64552" y="0"/>
                </a:moveTo>
                <a:lnTo>
                  <a:pt x="2606230" y="0"/>
                </a:lnTo>
                <a:cubicBezTo>
                  <a:pt x="2641881" y="0"/>
                  <a:pt x="2670782" y="28901"/>
                  <a:pt x="2670782" y="64552"/>
                </a:cubicBezTo>
                <a:lnTo>
                  <a:pt x="2670782" y="613230"/>
                </a:lnTo>
                <a:cubicBezTo>
                  <a:pt x="2670782" y="648881"/>
                  <a:pt x="2641881" y="677782"/>
                  <a:pt x="2606230" y="677782"/>
                </a:cubicBezTo>
                <a:lnTo>
                  <a:pt x="64552" y="677782"/>
                </a:lnTo>
                <a:cubicBezTo>
                  <a:pt x="28901" y="677782"/>
                  <a:pt x="0" y="648881"/>
                  <a:pt x="0" y="613230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9" name="Google Shape;678;g3e019baf557_0_ 1"/>
          <p:cNvSpPr/>
          <p:nvPr/>
        </p:nvSpPr>
        <p:spPr>
          <a:xfrm>
            <a:off x="6298200" y="4591080"/>
            <a:ext cx="5438160" cy="546840"/>
          </a:xfrm>
          <a:custGeom>
            <a:avLst/>
            <a:gdLst>
              <a:gd name="textAreaLeft" fmla="*/ 0 w 5438160"/>
              <a:gd name="textAreaRight" fmla="*/ 5438520 w 5438160"/>
              <a:gd name="textAreaTop" fmla="*/ 0 h 546840"/>
              <a:gd name="textAreaBottom" fmla="*/ 547200 h 546840"/>
            </a:gdLst>
            <a:ahLst/>
            <a:rect l="textAreaLeft" t="textAreaTop" r="textAreaRight" b="textAreaBottom"/>
            <a:pathLst>
              <a:path w="5438390" h="548680">
                <a:moveTo>
                  <a:pt x="64552" y="0"/>
                </a:moveTo>
                <a:lnTo>
                  <a:pt x="5373838" y="0"/>
                </a:lnTo>
                <a:cubicBezTo>
                  <a:pt x="5409489" y="0"/>
                  <a:pt x="5438390" y="28901"/>
                  <a:pt x="5438390" y="64552"/>
                </a:cubicBezTo>
                <a:lnTo>
                  <a:pt x="5438390" y="484128"/>
                </a:lnTo>
                <a:cubicBezTo>
                  <a:pt x="5438390" y="519779"/>
                  <a:pt x="5409489" y="548680"/>
                  <a:pt x="5373838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0" name="Google Shape;679;g3e019baf557_0_ 1"/>
          <p:cNvSpPr/>
          <p:nvPr/>
        </p:nvSpPr>
        <p:spPr>
          <a:xfrm>
            <a:off x="6298200" y="5204520"/>
            <a:ext cx="5438160" cy="546840"/>
          </a:xfrm>
          <a:custGeom>
            <a:avLst/>
            <a:gdLst>
              <a:gd name="textAreaLeft" fmla="*/ 0 w 5438160"/>
              <a:gd name="textAreaRight" fmla="*/ 5438520 w 5438160"/>
              <a:gd name="textAreaTop" fmla="*/ 0 h 546840"/>
              <a:gd name="textAreaBottom" fmla="*/ 547200 h 546840"/>
            </a:gdLst>
            <a:ahLst/>
            <a:rect l="textAreaLeft" t="textAreaTop" r="textAreaRight" b="textAreaBottom"/>
            <a:pathLst>
              <a:path w="5438390" h="548680">
                <a:moveTo>
                  <a:pt x="64552" y="0"/>
                </a:moveTo>
                <a:lnTo>
                  <a:pt x="5373838" y="0"/>
                </a:lnTo>
                <a:cubicBezTo>
                  <a:pt x="5409489" y="0"/>
                  <a:pt x="5438390" y="28901"/>
                  <a:pt x="5438390" y="64552"/>
                </a:cubicBezTo>
                <a:lnTo>
                  <a:pt x="5438390" y="484128"/>
                </a:lnTo>
                <a:cubicBezTo>
                  <a:pt x="5438390" y="519779"/>
                  <a:pt x="5409489" y="548680"/>
                  <a:pt x="5373838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1" name="Google Shape;680;g3e019baf557_0_ 1"/>
          <p:cNvSpPr/>
          <p:nvPr/>
        </p:nvSpPr>
        <p:spPr>
          <a:xfrm>
            <a:off x="6298200" y="5817600"/>
            <a:ext cx="5438160" cy="546840"/>
          </a:xfrm>
          <a:custGeom>
            <a:avLst/>
            <a:gdLst>
              <a:gd name="textAreaLeft" fmla="*/ 0 w 5438160"/>
              <a:gd name="textAreaRight" fmla="*/ 5438520 w 5438160"/>
              <a:gd name="textAreaTop" fmla="*/ 0 h 546840"/>
              <a:gd name="textAreaBottom" fmla="*/ 547200 h 546840"/>
            </a:gdLst>
            <a:ahLst/>
            <a:rect l="textAreaLeft" t="textAreaTop" r="textAreaRight" b="textAreaBottom"/>
            <a:pathLst>
              <a:path w="5438390" h="548680">
                <a:moveTo>
                  <a:pt x="64552" y="0"/>
                </a:moveTo>
                <a:lnTo>
                  <a:pt x="5373838" y="0"/>
                </a:lnTo>
                <a:cubicBezTo>
                  <a:pt x="5409489" y="0"/>
                  <a:pt x="5438390" y="28901"/>
                  <a:pt x="5438390" y="64552"/>
                </a:cubicBezTo>
                <a:lnTo>
                  <a:pt x="5438390" y="484128"/>
                </a:lnTo>
                <a:cubicBezTo>
                  <a:pt x="5438390" y="519779"/>
                  <a:pt x="5409489" y="548680"/>
                  <a:pt x="5373838" y="548680"/>
                </a:cubicBezTo>
                <a:lnTo>
                  <a:pt x="64552" y="548680"/>
                </a:lnTo>
                <a:cubicBezTo>
                  <a:pt x="28901" y="548680"/>
                  <a:pt x="0" y="519779"/>
                  <a:pt x="0" y="484128"/>
                </a:cubicBezTo>
                <a:lnTo>
                  <a:pt x="0" y="64552"/>
                </a:lnTo>
                <a:cubicBezTo>
                  <a:pt x="0" y="28901"/>
                  <a:pt x="28901" y="0"/>
                  <a:pt x="64552" y="0"/>
                </a:cubicBezTo>
                <a:close/>
              </a:path>
            </a:pathLst>
          </a:custGeom>
          <a:solidFill>
            <a:srgbClr val="1a1d24">
              <a:alpha val="50000"/>
            </a:srgbClr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Autofit/>
          </a:bodyPr>
          <a:p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2" name="Google Shape;683;g3e019baf557_0_ 1"/>
          <p:cNvSpPr/>
          <p:nvPr/>
        </p:nvSpPr>
        <p:spPr>
          <a:xfrm>
            <a:off x="322920" y="1675080"/>
            <a:ext cx="11739240" cy="386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80000"/>
              </a:lnSpc>
              <a:tabLst>
                <a:tab algn="l" pos="0"/>
              </a:tabLst>
            </a:pPr>
            <a:r>
              <a:rPr b="1" lang="en-US" sz="3050" spc="-1" strike="noStrike">
                <a:solidFill>
                  <a:srgbClr val="e8e8e8"/>
                </a:solidFill>
                <a:latin typeface="Liter"/>
                <a:ea typeface="Liter"/>
              </a:rPr>
              <a:t>Thank you</a:t>
            </a:r>
            <a:endParaRPr b="0" lang="en-US" sz="305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13" name="Google Shape;684;g3e019baf557_0_ 1"/>
          <p:cNvSpPr/>
          <p:nvPr/>
        </p:nvSpPr>
        <p:spPr>
          <a:xfrm>
            <a:off x="204840" y="2215080"/>
            <a:ext cx="1004724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sp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p:transition>
    <p:fade/>
  </p:transition>
</p:sld>
</file>

<file path=ppt/theme/theme1.xml><?xml version="1.0" encoding="utf-8"?>
<a:theme xmlns:a="http://schemas.openxmlformats.org/drawingml/2006/main" xmlns:r="http://schemas.openxmlformats.org/officeDocument/2006/relationships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 pitchFamily="0" charset="1"/>
        <a:ea typeface=""/>
        <a:cs typeface=""/>
      </a:majorFont>
      <a:minorFont>
        <a:latin typeface="Arial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LibreOffice/24.2.7.2$Linux_X86_64 LibreOffice_project/420$Build-2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2026-04-19T23:39:24Z</dcterms:created>
  <dc:creator>Kimi</dc:creator>
  <dc:description/>
  <dc:language>en-US</dc:language>
  <cp:lastModifiedBy/>
  <dcterms:modified xsi:type="dcterms:W3CDTF">2026-05-05T10:15:53Z</dcterms:modified>
  <cp:revision>1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{"Label":"Deep Learning for Brain Tumor Classification","ContentProducer":"001191110108MACG2KBH8F10000","ProduceID":"19da80e8-1ec2-87d0-8000-0000030d0988","ReservedCode1":"","ContentPropagator":"001191110108MACG2KBH8F20000","PropagateID":"19da80e8-1ec2-87d0-8000-0000030d0988","ReservedCode2":""}</vt:lpwstr>
  </property>
  <property fmtid="{D5CDD505-2E9C-101B-9397-08002B2CF9AE}" pid="3" name="Notes">
    <vt:i4>12</vt:i4>
  </property>
  <property fmtid="{D5CDD505-2E9C-101B-9397-08002B2CF9AE}" pid="4" name="PresentationFormat">
    <vt:lpwstr>On-screen Show (16:9)</vt:lpwstr>
  </property>
  <property fmtid="{D5CDD505-2E9C-101B-9397-08002B2CF9AE}" pid="5" name="Slides">
    <vt:i4>12</vt:i4>
  </property>
</Properties>
</file>